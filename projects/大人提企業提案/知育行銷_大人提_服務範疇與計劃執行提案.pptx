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補助比率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E2A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E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一般內／外訓</c:v>
                  </c:pt>
                  <c:pt idx="1">
                    <c:v>青年及中高齡外訓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2E2A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2A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開場一句：這份提案回答兩件事——我們做什麼（服務範疇），以及怎麼把它做完（計劃執行）。全程單一窗口，貴公司只需要出人上課。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這頁停 30 秒。9/30 是硬期限，計畫書撰擬需要 2–3 週，往回推就是這兩週要決定。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第一段只講計畫本身，先讓對方確認自己有沒有資格、能拿多少。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多數客戶適合個別型。若客戶有關係企業或同區域夥伴，直接提聯合型——補助翻倍，計畫書由我們寫。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年齡分布是關鍵。29 歲以下與 45 歲以上的比例，直接決定補助從 50% 拉到 70%。開會當場就可以問。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這頁製造時間壓力，但用事實講，不要催。重點放在「計畫書要 2–3 週」。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這頁是定價權的來源。客戶自己看不見的東西，才是我們收費的理由。講完停一下再翻頁。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第二段回答「你們到底做什麼」。重點在補助內／補助外那頁，講清楚錢怎麼走。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客戶最常誤會的一頁。明講：補助只能支應訓練費用，代操與拍攝是另一張報價單。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模組一二講「內容怎麼生出來、怎麼不斷炊」。強調素材庫與命名規則——這是客戶換人也不會亂的關鍵。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SDE 當日剪輯是我們的差異點——課上完，成品當天就發出去。訪視時這就是最好的成果證明。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順序不能換。先拍才有素材，有素材才有得投，有投才有數據。這個邏輯講清楚，課綱就賣得掉。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這頁是防呆。客戶最常忘記的是「派訓與點名」——人沒到，補助就打折。當場提醒。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第三段回答「你們怎麼把它做完」。重點在服務承諾的天數，這是別人不敢寫的。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五階段。講的時候手指著第四階段：訪視是最多企業出事的地方，我們現場陪同。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這頁是這份提案最有殺傷力的一頁。同業不敢寫天數。寫進合約附件，客戶會記住。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驗收標準寫死，結案不吵架。共享資料夾這件事一定要講，客戶很在意看得到進度。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在地團隊是優勢。台北的顧問公司不會為了一次訪視南下，我們一小時車程就到。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依對方產業挑兩個案例深講，其他帶過。食品業就講信功與如記，餐飲業就講奧比。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比稿階段不報死價。給級距、給產出，讓對方自己對號入座，下一次會議再談數字。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收尾不要拖。三個動作講完，直接問：投保人數的資料這週拿得到嗎？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年度　企業人力資源提升計畫（大人提）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服務範疇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與計劃執行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從資格確認、計畫書撰擬、課程執行到核銷結案，單一窗口承接全流程。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知育行銷有限公司　ZHIYU MARKETING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4406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提案日期：2026 年 8 月　｜　提案人：黃皇賓　執行長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先看三個數字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這三個數字決定這個案子值不值得現在啟動。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65576" cy="2240280"/>
          </a:xfrm>
          <a:prstGeom prst="roundRect">
            <a:avLst>
              <a:gd name="adj" fmla="val 3265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4884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萬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個別型年度補助上限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聯合型 190 萬、產業推升型 200 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465576" cy="2240280"/>
          </a:xfrm>
          <a:prstGeom prst="roundRect">
            <a:avLst>
              <a:gd name="adj" fmla="val 3265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81728" y="214884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81728" y="3108960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外訓最高補助比率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345643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派訓 29 歲以下或 45 歲以上員工適用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465576" cy="2240280"/>
          </a:xfrm>
          <a:prstGeom prst="roundRect">
            <a:avLst>
              <a:gd name="adj" fmla="val 3265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03336" y="214884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9/30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03336" y="3108960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年度申請截止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03336" y="345643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距今約 7 週，計畫書需 2–3 週備妥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貴公司投入的是「員工的上課時間」；訓練費用由計畫補助支應 50%–70%，其餘由我方協助控制在可預期的範圍內。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為什麼是現在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大人提的規則、資格門檻，以及 115 年度剩下的時間。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計畫架構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三種訓練類型，補助上限不同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先確認貴公司要走哪一型，計畫書的寫法與夥伴企業的安排完全不同。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6557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84832"/>
            <a:ext cx="365760" cy="3657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08483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個別型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2825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最高補助 95 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825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由一家事業單位申請辦理訓練。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4114800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適合：自有訓練需求明確、單廠執行。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1688" y="1828800"/>
            <a:ext cx="346557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2084832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38928" y="208483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聯合型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81728" y="2606040"/>
            <a:ext cx="2825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最高補助 190 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81728" y="3108960"/>
            <a:ext cx="2825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由一家事業單位申請，結合一家以上具產業或區域發展關聯性的事業單位共同參加。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81728" y="4114800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適合：集團關係企業、供應鏈上下游、同區域同業。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83296" y="1828800"/>
            <a:ext cx="346557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03336" y="2084832"/>
            <a:ext cx="365760" cy="3657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3336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0536" y="208483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產業推升型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03336" y="2606040"/>
            <a:ext cx="2825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最高補助 200 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403336" y="3108960"/>
            <a:ext cx="2825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以經濟部「推動中堅企業躍升計畫」遴選單位，或勞動部「國家人才發展獎」獲獎單位為對象。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03336" y="4114800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適合：已具獲獎或遴選資格者。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補助金額為訓練費用之補助上限，不含稅額；實際核定金額依分署審查結果。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申請資格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先確認門檻，再談課綱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投保人數是第一道門檻；未滿 51 人也有四條替代路徑。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主要資格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505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民營事業機構、非營利法人或團體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受僱勞工參加就業保險人數 51 人（含）以上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未滿 51 人：符合其一即可申請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58444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TTQS 企業機構版評核結果為通過以上，或辦訓能力檢核表合格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曾獲國家人力創新獎、國家訓練品質獎、國家人才發展獎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申請小型企業人力提升計畫，經分署認定已具辦訓能力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接受小人提輔導服務及訓練課程達三年以上且未續申請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50292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補助比率</a:t>
            </a:r>
            <a:endParaRPr lang="en-US" sz="1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675120" y="2377440"/>
          <a:ext cx="46634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858000" y="43159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派訓對象為 29 歲以下青年或 45 歲以上中高齡勞工，該外部訓練課程補助比率提高至 70%。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行動：請提供最近一期投保人數與員工年齡分布，我方 3 個工作天內回覆可行性與補助試算。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 年度只剩約 7 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受理申請至 115 年 9 月 30 日止。往回推算，能決策的時間比想像中短。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065264" cy="2286000"/>
          </a:xfrm>
          <a:prstGeom prst="roundRect">
            <a:avLst>
              <a:gd name="adj" fmla="val 354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9832" y="2395728"/>
            <a:ext cx="365760" cy="3657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9832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79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179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資格確認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與需求訪談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179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23632" y="3291840"/>
            <a:ext cx="109728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1648" y="2148840"/>
            <a:ext cx="2065264" cy="2286000"/>
          </a:xfrm>
          <a:prstGeom prst="roundRect">
            <a:avLst>
              <a:gd name="adj" fmla="val 354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1400" y="2395728"/>
            <a:ext cx="365760" cy="3657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1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88808" y="2880360"/>
            <a:ext cx="179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送件前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88808" y="3218688"/>
            <a:ext cx="179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訓練計畫書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與課綱撰擬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88808" y="4023360"/>
            <a:ext cx="179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2–3 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5200" y="3291840"/>
            <a:ext cx="109728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3216" y="2148840"/>
            <a:ext cx="2065264" cy="2286000"/>
          </a:xfrm>
          <a:prstGeom prst="roundRect">
            <a:avLst>
              <a:gd name="adj" fmla="val 354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12968" y="2395728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296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00376" y="2880360"/>
            <a:ext cx="179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9/30 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00376" y="3218688"/>
            <a:ext cx="179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線上系統送件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文件用印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00376" y="4023360"/>
            <a:ext cx="179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截止日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46768" y="3291840"/>
            <a:ext cx="109728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4784" y="2148840"/>
            <a:ext cx="2065264" cy="2286000"/>
          </a:xfrm>
          <a:prstGeom prst="roundRect">
            <a:avLst>
              <a:gd name="adj" fmla="val 354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4535" y="2395728"/>
            <a:ext cx="365760" cy="3657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4535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11944" y="2880360"/>
            <a:ext cx="179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核定後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11944" y="3218688"/>
            <a:ext cx="179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開訓報備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課程執行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11944" y="4023360"/>
            <a:ext cx="179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依審查結果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58335" y="3291840"/>
            <a:ext cx="109728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86351" y="2148840"/>
            <a:ext cx="2065264" cy="2286000"/>
          </a:xfrm>
          <a:prstGeom prst="roundRect">
            <a:avLst>
              <a:gd name="adj" fmla="val 354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36103" y="2395728"/>
            <a:ext cx="365760" cy="3657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6103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23511" y="2880360"/>
            <a:ext cx="179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結訓後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23511" y="3218688"/>
            <a:ext cx="179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經費核銷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結案報告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23511" y="4023360"/>
            <a:ext cx="179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訓練期滿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計畫書從訪談到定稿約需 2–3 週。要趕上 9/30，本週內完成需求訪談是安全線。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問題診斷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企業自己申請，通常卡在這三件事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這三件事都不在課程清單裡，卻是分署審查與訪視真正在看的東西。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65576" cy="2423160"/>
          </a:xfrm>
          <a:prstGeom prst="roundRect">
            <a:avLst>
              <a:gd name="adj" fmla="val 3019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2140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計畫書寫不出因果鏈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31012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分署看的是「訓練需求分析 → 課程設計 → 績效指標」的邏輯關係。列一份課程清單過不了審查。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1688" y="1874520"/>
            <a:ext cx="3465576" cy="2423160"/>
          </a:xfrm>
          <a:prstGeom prst="roundRect">
            <a:avLst>
              <a:gd name="adj" fmla="val 3019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12140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1728" y="2651760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課排得出來，成果驗收不出來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81728" y="331012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上完課沒有素材、沒有數據、沒有可展示的產出，訪視當天問不出成效，隔年申請就會被記住。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1874520"/>
            <a:ext cx="3465576" cy="2423160"/>
          </a:xfrm>
          <a:prstGeom prst="roundRect">
            <a:avLst>
              <a:gd name="adj" fmla="val 3019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3336" y="212140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03336" y="2651760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核銷單據的細節扣分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03336" y="331012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簽到表、講師鐘點費、講師資格文件、非自有場地費憑證，任一項缺漏就是打折，補件還要重跑流程。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51560" y="4572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我們的定位：把貴公司看不見的審查邏輯，變成可以照著跑的流程與文件。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服務範疇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四大模組、補助內外的分界，以及責任邊界。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哪些走補助，哪些另行報價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先把錢的邊界講清楚，後面的課綱與報價才不會有誤會。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57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補助內　訓練費用可支應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訓練需求分析與訓練計畫書撰擬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課綱設計、教材與講義製作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內部訓練：講師鐘點費、非自有場地費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外部訓練：學員訓練費（青年／中高齡可達 70%）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TTQS 相關文件整備與辦訓紀錄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訓練成果驗收與核銷文件編製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57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補助外　另行報價的代理服務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社群帳號代營運、發文排程與留言回覆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廣告投放代操與成效優化（廣告金另計）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商業級影音拍攝、剪輯與後製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品牌視覺、封面設計與銷售頁製作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官網／學習平台架設與後台使用費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800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課程輔導建立內部能力，代理服務負責加速——兩邊可分開簽，也可搭配執行。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數位學習平台架設費用及後台使用費不含於本輔導專案。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服務範疇　模組 1–2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內容策略與腳本　／　社群代營運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前段負責「講什麼」，後段負責「怎麼持續講下去」。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103120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36192" y="2103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內容策略與腳本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品牌定位與受眾輪廓盤點，含三家競品社群拆解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月度主題軸線與內容行事曆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短影音口播腳本（60–90 秒）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輪播腳本（7–8 張）與貼文文案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節慶與檔期內容規劃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4736592"/>
            <a:ext cx="4572000" cy="0"/>
          </a:xfrm>
          <a:prstGeom prst="line">
            <a:avLst/>
          </a:prstGeom>
          <a:noFill/>
          <a:ln w="12700">
            <a:solidFill>
              <a:srgbClr val="DED7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864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內容行事曆一份、短影音腳本 12 支／季、輪播腳本 8 組／季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103120"/>
            <a:ext cx="402336" cy="40233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4032" y="2103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社群代營運與發文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帳號健檢與版面重整：首圖、精選、簡介、CTA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發文排程與跨平台同步（IG／FB／YouTube）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留言與私訊回覆規範建立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素材庫建置與命名規則，交接不斷線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月度數據追蹤與主題調整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4736592"/>
            <a:ext cx="4572000" cy="0"/>
          </a:xfrm>
          <a:prstGeom prst="line">
            <a:avLst/>
          </a:prstGeom>
          <a:noFill/>
          <a:ln w="12700">
            <a:solidFill>
              <a:srgbClr val="DED7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864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社群月報一份、素材庫一套、發文排程表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服務範疇　模組 3–4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廣告投放與成效優化　／　影音拍攝製作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前段把流量買對，後段把素材做出來。兩者共用同一組數據判斷。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103120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36192" y="2103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廣告投放與成效優化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Meta／Google 帳號結構重建與像素、轉換事件檢查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受眾測試矩陣與素材輪替節奏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五大指標優化模型：曝光、點擊率、單次成本、轉換率、ROAS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預算配置與檔期節奏建議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雙週成效檢討會議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4736592"/>
            <a:ext cx="4572000" cy="0"/>
          </a:xfrm>
          <a:prstGeom prst="line">
            <a:avLst/>
          </a:prstGeom>
          <a:noFill/>
          <a:ln w="12700">
            <a:solidFill>
              <a:srgbClr val="DED7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864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雙週成效報表、優化建議書、廣告帳號結構文件（廣告金另計）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103120"/>
            <a:ext cx="402336" cy="40233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4032" y="2103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影音拍攝與製作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商品、形象、人物專訪與流程紀錄拍攝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 當日剪輯：腳本 → 拍攝 → 後製 → 上架同日完成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現場提供穩定器、燈具、光板，講師與助教各一名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內部培訓影片與宣導片企劃（劇情類／教科類）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字幕、封面與多平台尺寸輸出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4736592"/>
            <a:ext cx="4572000" cy="0"/>
          </a:xfrm>
          <a:prstGeom prst="line">
            <a:avLst/>
          </a:prstGeom>
          <a:noFill/>
          <a:ln w="12700">
            <a:solidFill>
              <a:srgbClr val="DED7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864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每個拍攝日產出短影音 3–5 支、橫式主片 1 支、封面圖組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課綱設計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黃金組合：四段式課程流程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課程順序決定學員能不能在結訓當天交出作品。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35906" cy="2514600"/>
          </a:xfrm>
          <a:prstGeom prst="roundRect">
            <a:avLst>
              <a:gd name="adj" fmla="val 2909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21284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1950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拍攝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3127248"/>
            <a:ext cx="1950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圖片／影片素材產出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器材操作與現場實作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4023360"/>
            <a:ext cx="1950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 8 小時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1706" y="3200400"/>
            <a:ext cx="164592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2018" y="1965960"/>
            <a:ext cx="253590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24626" y="2212848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4626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24626" y="2724912"/>
            <a:ext cx="1950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後製與修圖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24626" y="3127248"/>
            <a:ext cx="1950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剪輯軟體實作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字幕、封面、輸出規格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24626" y="4023360"/>
            <a:ext cx="1950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 4 小時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3643" y="3200400"/>
            <a:ext cx="164592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955" y="1965960"/>
            <a:ext cx="2535906" cy="2514600"/>
          </a:xfrm>
          <a:prstGeom prst="roundRect">
            <a:avLst>
              <a:gd name="adj" fmla="val 2909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6563" y="221284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6563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563" y="2724912"/>
            <a:ext cx="1950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社群與廣告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16563" y="3127248"/>
            <a:ext cx="1950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版面經營、廣告帳號設定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投放實作與受眾測試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16563" y="4023360"/>
            <a:ext cx="1950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 4 小時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05581" y="3200400"/>
            <a:ext cx="164592" cy="0"/>
          </a:xfrm>
          <a:prstGeom prst="line">
            <a:avLst/>
          </a:prstGeom>
          <a:noFill/>
          <a:ln w="25400">
            <a:solidFill>
              <a:srgbClr val="DED7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15893" y="1965960"/>
            <a:ext cx="253590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08501" y="2212848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08501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08501" y="2724912"/>
            <a:ext cx="1950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數據與成效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308501" y="3127248"/>
            <a:ext cx="1950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五大指標判讀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優化決策與月報製作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308501" y="4023360"/>
            <a:ext cx="1950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 4 小時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總時數 20 小時為基本組合。實際課綱依貴公司職能盤點結果調整，可拆分為多梯次並依部門分班。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51663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課程費用不含廣告金預算；可視公司檔期協助設定廣告平台與投放。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責任邊界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我們做什麼，貴公司做什麼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把分工寫在提案裡，執行期間就不會互相等。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29000"/>
                <a:gridCol w="3429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工作項目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知育行銷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貴公司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訓練需求訪談與職能盤點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主辦｜設計訪談與彙整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受訪｜指派各部門主管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訓練計畫書與課綱撰擬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主辦｜全份撰擬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提供｜人事資料與訓練紀錄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線上系統送件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協辦｜代填與檢核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提供｜系統帳號與文件用印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講師、教材與講義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主辦｜全數負責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場地與拍攝設備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提供｜穩定器、燈具、光板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提供｜教室與網路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學員出席與名冊管理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提供｜表單與範本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執行｜派訓、點名、補簽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分署實地訪視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現場陪同｜文件預檢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出席｜負責人或訓練主管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經費核銷與結案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主辦｜單據編製與送件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提供｜用印與付款憑證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計劃執行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五個階段、各階段的服務承諾與交付物。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執行總覽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五個階段，一個窗口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從資格確認到核銷結案，貴公司的對口只有一位。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29968"/>
            <a:ext cx="402336" cy="40233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盤點與資格確認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18745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投保人數、年齡結構、訓練需求訪談、補助試算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0" y="18745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871216"/>
            <a:ext cx="402336" cy="40233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27157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計畫書與課綱撰擬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271576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訓練需求分析、課程設計、績效指標、文件備齊送件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92640" y="271576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2–3 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5701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712464"/>
            <a:ext cx="402336" cy="40233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355701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核定與開訓準備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17720" y="355701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學員名冊、開訓報備、教材印製、場地與設備確認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92640" y="35570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核定後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39826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553712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39826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課程執行與訪視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17720" y="439826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授課、簽到管理、成果產出、訪視文件預檢與陪同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92640" y="439826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訓練期間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23951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4400" y="5394960"/>
            <a:ext cx="402336" cy="40233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08760" y="523951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核銷結案與成效報告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617720" y="523951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單據編製、滿意度調查、成效報告、次年度建議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692640" y="52395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結訓後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服務承諾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每個階段，我們押上時間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以下為知育行銷的內部作業承諾，寫進合約附件。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65576" cy="1691640"/>
          </a:xfrm>
          <a:prstGeom prst="roundRect">
            <a:avLst>
              <a:gd name="adj" fmla="val 4324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65960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個工作天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回覆資格可行性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90779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收到投保人數與年齡分布後，提供補助試算與類型建議。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828800"/>
            <a:ext cx="3465576" cy="1691640"/>
          </a:xfrm>
          <a:prstGeom prst="roundRect">
            <a:avLst>
              <a:gd name="adj" fmla="val 4324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81728" y="1965960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個工作天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81728" y="2578608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交出課綱草案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290779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完成需求訪談後，提出課綱架構與訓練計畫書大綱。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65576" cy="1691640"/>
          </a:xfrm>
          <a:prstGeom prst="roundRect">
            <a:avLst>
              <a:gd name="adj" fmla="val 4324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03336" y="1965960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個工作天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03336" y="2578608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完成開訓報備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03336" y="290779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開訓前備妥學員名冊、課程表與報備文件。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76472"/>
            <a:ext cx="34655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913632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個工作天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60120" y="452628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回傳課堂紀錄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855464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每堂課後回傳簽到表掃描檔與課堂執行紀錄。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61688" y="3776472"/>
            <a:ext cx="34655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81728" y="3913632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個工作天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681728" y="452628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訪視文件預檢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81728" y="4855464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訪視前完成全份文件預檢，並提供應答重點。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83296" y="3776472"/>
            <a:ext cx="34655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03336" y="3913632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個工作天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403336" y="452628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備妥核銷單據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03336" y="4855464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結訓後完成單據編製，交由貴公司用印送件。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6235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分署端之審查、核定與撥款時程依當年度公告辦理，不在本承諾範圍內。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交付與驗收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每個階段交什麼、怎麼算完成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驗收標準寫在前面，結案時就不必爭論。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54880"/>
                <a:gridCol w="4389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交付物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驗收標準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盤點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資格檢核表、補助試算表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貴公司確認訓練類型與預估規模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送件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訓練計畫書、課綱、講師資格文件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分署收件完成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學員名冊、課程表、教材與講義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開訓報備完成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簽到表、課堂紀錄、課程成果影音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每梯次結訓即驗收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訪視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文件預檢清單、應答重點整理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訪視完成且無待補件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核銷單據包、滿意度調查、成效報告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核銷送件完成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349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所有交付物同步存放於共享雲端資料夾，貴公司隨時可查閱最新版本。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執行團隊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四人編制，一位窗口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貴公司只需要對接一位負責人，內部分工由我方調度。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35906" cy="2834640"/>
          </a:xfrm>
          <a:prstGeom prst="roundRect">
            <a:avLst>
              <a:gd name="adj" fmla="val 2885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60561" y="2240280"/>
            <a:ext cx="694944" cy="69494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60561" y="2240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執行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090672"/>
            <a:ext cx="2078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執行長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401568"/>
            <a:ext cx="2078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黃皇賓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0787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策略規劃、課綱設計、主授課、客戶單一窗口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32018" y="1965960"/>
            <a:ext cx="2535906" cy="28346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2498" y="2240280"/>
            <a:ext cx="694944" cy="694944"/>
          </a:xfrm>
          <a:prstGeom prst="ellipse">
            <a:avLst/>
          </a:prstGeom>
          <a:solidFill>
            <a:srgbClr val="EFEAE3"/>
          </a:solidFill>
          <a:ln w="12700">
            <a:solidFill>
              <a:srgbClr val="DED7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498" y="2240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拍攝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60618" y="3090672"/>
            <a:ext cx="2078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拍攝剪輯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60618" y="3401568"/>
            <a:ext cx="2078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影音專員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60618" y="3749040"/>
            <a:ext cx="20787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課程拍攝、SDE 當日剪輯、成果影音產製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3955" y="1965960"/>
            <a:ext cx="2535906" cy="28346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44436" y="2240280"/>
            <a:ext cx="694944" cy="694944"/>
          </a:xfrm>
          <a:prstGeom prst="ellipse">
            <a:avLst/>
          </a:prstGeom>
          <a:solidFill>
            <a:srgbClr val="EFEAE3"/>
          </a:solidFill>
          <a:ln w="12700">
            <a:solidFill>
              <a:srgbClr val="DED7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4436" y="2240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平面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52555" y="3090672"/>
            <a:ext cx="2078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平面企劃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52555" y="3401568"/>
            <a:ext cx="2078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設計專員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52555" y="3749040"/>
            <a:ext cx="20787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教材與講義設計、視覺素材、成果報告排版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15893" y="1965960"/>
            <a:ext cx="2535906" cy="28346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36373" y="2240280"/>
            <a:ext cx="694944" cy="694944"/>
          </a:xfrm>
          <a:prstGeom prst="ellipse">
            <a:avLst/>
          </a:prstGeom>
          <a:solidFill>
            <a:srgbClr val="EFEAE3"/>
          </a:solidFill>
          <a:ln w="12700">
            <a:solidFill>
              <a:srgbClr val="DED7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6373" y="2240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行政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44493" y="3090672"/>
            <a:ext cx="2078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行政會計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44493" y="3401568"/>
            <a:ext cx="2078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行政專員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44493" y="3749040"/>
            <a:ext cx="20787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文件備齊、簽到管理、核銷單據編製與送件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高雄在地團隊，服務範圍以高雄、屏東、台南為主，可到廠授課與拍攝。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合作實績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做過的產業，不是列出來好看的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食品製造、農產、餐飲、旅宿、教育、婚禮服務——都跑過完整的訓練與核銷流程。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EFEAE3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03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大人提／企業輔導實績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信功肉品｜480 小時課程規劃與執行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臺南蛋品｜企業人力資源提升計畫申請與執行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義盟興眼鏡｜輔導專案與數位轉型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如記食品｜大人提訓練與品牌內容輔導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萬科｜大人提課程執行與訪視管理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103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行銷代理與內容服務客戶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弋果美語｜廣告代操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高雄萬豪酒店｜社群與影音內容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白鴿婚禮顧問｜品牌行銷策劃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藝隆農產、香蕉策略聯盟｜農產品牌內容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奧比餐飲集團｜數位轉型輔導提案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完整作品集與成效數據可於會議中展示，或依貴公司產業提供對應案例。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投資級距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三種規模，先抓量體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以下為課程時數級距與適用情境；正式報價依課綱、人數與梯次另行提供。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65576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5740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輕量型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2825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20–24 小時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2825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單一模組聚焦（多為短影音）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一個部門、單梯次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適合首次申請、先建立辦訓紀錄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4343400"/>
            <a:ext cx="2825496" cy="0"/>
          </a:xfrm>
          <a:prstGeom prst="line">
            <a:avLst/>
          </a:prstGeom>
          <a:noFill/>
          <a:ln w="12700">
            <a:solidFill>
              <a:srgbClr val="DED7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46227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預期產出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短影音成品 10–15 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1828800"/>
            <a:ext cx="3465576" cy="3291840"/>
          </a:xfrm>
          <a:prstGeom prst="roundRect">
            <a:avLst>
              <a:gd name="adj" fmla="val 2222"/>
            </a:avLst>
          </a:prstGeom>
          <a:solidFill>
            <a:srgbClr val="2E2A26"/>
          </a:solidFill>
          <a:ln w="12700">
            <a:solidFill>
              <a:srgbClr val="2E2A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205740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標準型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81728" y="2468880"/>
            <a:ext cx="2825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40–48 小時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81728" y="3017520"/>
            <a:ext cx="2825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四模組黃金組合完整跑完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跨部門、二至三梯次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適合有明確行銷目標的企業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81728" y="4343400"/>
            <a:ext cx="2825496" cy="0"/>
          </a:xfrm>
          <a:prstGeom prst="line">
            <a:avLst/>
          </a:prstGeom>
          <a:noFill/>
          <a:ln w="12700">
            <a:solidFill>
              <a:srgbClr val="5A53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446227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預期產出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短影音 30 支以上、廣告帳號重建、成效報告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83296" y="1828800"/>
            <a:ext cx="3465576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ED7C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03336" y="205740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03336" y="2468880"/>
            <a:ext cx="2825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小時以上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03336" y="3017520"/>
            <a:ext cx="2825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含聯合型申請與跨廠協作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多廠區、多梯次、分班進行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適合集團或供應鏈聯合申請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03336" y="4343400"/>
            <a:ext cx="2825496" cy="0"/>
          </a:xfrm>
          <a:prstGeom prst="line">
            <a:avLst/>
          </a:prstGeom>
          <a:noFill/>
          <a:ln w="12700">
            <a:solidFill>
              <a:srgbClr val="DED7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4462272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預期產出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完整內容系統、內訓影音庫、雙週成效追蹤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2852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課程費用之 50%–70% 由計畫補助支應，企業實付金額於課綱確認後提供試算表。所有價格均為未稅價。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接下來三個動作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65576" cy="1965960"/>
          </a:xfrm>
          <a:prstGeom prst="roundRect">
            <a:avLst>
              <a:gd name="adj" fmla="val 3721"/>
            </a:avLst>
          </a:prstGeom>
          <a:solidFill>
            <a:srgbClr val="3A352F"/>
          </a:solidFill>
          <a:ln w="12700">
            <a:solidFill>
              <a:srgbClr val="4A44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12848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貴公司提供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761488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最近一期投保人數證明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與員工年齡分布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65576" cy="1965960"/>
          </a:xfrm>
          <a:prstGeom prst="roundRect">
            <a:avLst>
              <a:gd name="adj" fmla="val 3721"/>
            </a:avLst>
          </a:prstGeom>
          <a:solidFill>
            <a:srgbClr val="3A352F"/>
          </a:solidFill>
          <a:ln w="12700">
            <a:solidFill>
              <a:srgbClr val="4A44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2212848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2212848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雙方會談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1728" y="2761488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分鐘需求訪談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確認訓練類型與部門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347472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1965960"/>
            <a:ext cx="3465576" cy="1965960"/>
          </a:xfrm>
          <a:prstGeom prst="roundRect">
            <a:avLst>
              <a:gd name="adj" fmla="val 3721"/>
            </a:avLst>
          </a:prstGeom>
          <a:solidFill>
            <a:srgbClr val="3A352F"/>
          </a:solidFill>
          <a:ln w="12700">
            <a:solidFill>
              <a:srgbClr val="4A44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03336" y="2212848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51976" y="2212848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我方交付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03336" y="2761488"/>
            <a:ext cx="2825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課綱草案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與訓練計畫書架構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03336" y="347472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訪談後 5 個工作天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 年度受理申請至 115 年 9 月 30 日止。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4A44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074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黃皇賓　BEN HUANG　｜　執行長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知育行銷有限公司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5074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電話　0983-339-790</a:t>
            </a:r>
            <a:endParaRPr lang="en-US" sz="13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　zhiyumkt@gmail.com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知育行銷有限公司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大人提計畫｜服務範疇與計劃執行提案</dc:title>
  <dc:subject>PptxGenJS Presentation</dc:subject>
  <dc:creator>知育行銷有限公司</dc:creator>
  <cp:lastModifiedBy>知育行銷有限公司</cp:lastModifiedBy>
  <cp:revision>1</cp:revision>
  <dcterms:created xsi:type="dcterms:W3CDTF">2026-08-10T09:27:16Z</dcterms:created>
  <dcterms:modified xsi:type="dcterms:W3CDTF">2026-08-10T09:27:16Z</dcterms:modified>
</cp:coreProperties>
</file>