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補助比率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E2A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E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一般內訓／外訓</c:v>
                  </c:pt>
                  <c:pt idx="1">
                    <c:v>青年及中高齡外訓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2E2A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2A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訓練時數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&quot; 小時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E2A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影音拍攝與製作</c:v>
                  </c:pt>
                  <c:pt idx="1">
                    <c:v>管理與職能發展</c:v>
                  </c:pt>
                  <c:pt idx="2">
                    <c:v>社群與廣告行銷</c:v>
                  </c:pt>
                  <c:pt idx="3">
                    <c:v>數據與 AI 應用</c:v>
                  </c:pt>
                  <c:pt idx="4">
                    <c:v>內訓平台與文書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128</c:v>
                </c:pt>
                <c:pt idx="1">
                  <c:v>128</c:v>
                </c:pt>
                <c:pt idx="2">
                  <c:v>112</c:v>
                </c:pt>
                <c:pt idx="3">
                  <c:v>56</c:v>
                </c:pt>
                <c:pt idx="4">
                  <c:v>56</c:v>
                </c:pt>
              </c:numCache>
            </c:numRef>
          </c:val>
        </c:ser>
        <c:dLbls>
          <c:numFmt formatCode="0&quot; 小時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E2A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E2A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開場：這份資料分四段——計畫本身怎麼運作、我們協助規劃到什麼程度、實際服務內容、以及做過的企業長什麼樣子。可以先翻，有問題隨時打斷。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先講架構，讓對方知道什麼時候會講到他關心的部分。多數老闆最在意第四段的實例，可以先問他想從哪一段開始。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這一段純講計畫。不要推銷，讓對方自己判斷有沒有資格、值不值得做。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重點提醒：是『先執行、後核銷』，不是先拿錢。企業要有這個現金流的心理準備，這點先講清楚後面不會有誤會。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如果對方有關係企業或同區域的同業夥伴，聯合型的上限是個別型的兩倍。這題現場問一句就知道要不要往下談。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資格這頁讓對方自己對照。如果人數在 51 人邊緣，請他提供最近一期勞保投保人數證明，我們可以先幫忙確認。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年齡結構決定補助比率。請對方回去調一份員工年齡分布，29 歲以下和 45 歲以上的比例，直接影響能拿到 50% 還是 70%。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這頁是多數企業自己做不出來的地方——課排得出來，但對不到政府的分類。我們把每一門課掛到正確的大類，審查才過得去。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人數限制常被忽略。外訓一堂課只能報 8 人，如果對方想派 30 個人上同一門課，就得改成內訓或分梯，這會影響整份課綱結構。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訪視這件事要提醒：分署會實地來看，看的是簽到、教材、成果。這是最多企業出狀況的環節，我們現場陪同。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第二段講我們介入到哪裡。重點是分工那頁——企業要出的東西其實不多。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這頁講完，對方大概就知道自己要出什麼——人、資料、用印。其他都在我們這邊。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部門訪談通常一個上午跑完 3–4 個部門。訪談紀錄本身就是計畫書的素材，這是我們寫得快的原因。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順序不能換。先拍才有素材，有素材才有得投，有投才有數據。這個邏輯講清楚，課綱就站得住腳。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這張表可以直接當合約附件。同業很少把天數寫死，這是我們的差異，但講的時候不用強調，讓表自己說話。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第三段講具體做什麼。如果對方時間有限，這段可以只講模組和交付物兩頁。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四個模組可以拆開賣。多數客戶從影音進來，做出成果之後才會加社群和廣告。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SDE 是最有說服力的一段。課上完，影片當天就發出去了——訪視要看成果，這就是成果。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著作權那行要主動講。多數企業沒想到這件事，先講反而顯得專業。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不要在這頁報死價。給規模、給產出，讓對方自己對號入座，數字留到下一次會議。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第四段是最有說服力的一段。信功那份 480 小時的課表可以直接攤開給對方看。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這頁是重點。480 小時不是空話，課表是真的送出去也核銷完的。對方問細節就翻完整課表給他看。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這個比例可以直接借給對方參考。多數企業一開始都想把時數全押在行銷，管理職能課其實是分署喜歡看到的。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依對方產業挑兩家深講就好。食品業講信功和如記，餐飲業講奧比，旅宿講萬豪。其他帶過。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收尾只要一件事：請他回去調投保人數和年齡分布。有了這兩份資料，下次見面就能給具體數字。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勞動部勞動力發展署　115 年度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企業人力資源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提升計畫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計劃說明　｜　協助規劃範疇　｜　服務內容　｜　企業輔導實例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201168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74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知育行銷有限公司　ZHIYU MARKETING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8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本份資料的四個部分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57400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計劃說明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60520" y="182880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計畫目的、訓練類型與補助上限、申請資格、補助比率、課程分類與規格、年度執行流程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081528"/>
            <a:ext cx="420624" cy="420624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8529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協助規劃範疇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160520" y="285292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申請前、執行中、結案後的協助範圍，訓練需求盤點方法，課綱規劃路徑，雙方分工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7705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105656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87705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服務內容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160520" y="3877056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四大服務模組、課程執行方式與現場配置、交付物清單、課程規模參考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5129784"/>
            <a:ext cx="420624" cy="420624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129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490118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企業輔導實例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160520" y="4901184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信功肉品 480 小時課程規劃、課程主題時數分布、其他輔導企業與產業經驗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計劃說明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計畫怎麼運作、補助多少、什麼樣的課程可以申請。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計畫概述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企業人力資源提升計畫是什麼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由勞動部勞動力發展署辦理，補助事業單位辦理在職員工訓練的部分訓練費用。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計畫目的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23957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協助事業單位辦理在職員工進修訓練，提供訓練課程之部分訓練費用補助，讓企業以可控的成本投資人力資本，並將訓練成果留在企業內部。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74904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主辦單位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勞動部勞動力發展署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各地分署受理與審查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52044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374904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補助性質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72584" y="416052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訓練費用之部分補助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非全額給付、需先執行後核銷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352044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5048" y="374904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申請週期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5048" y="416052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每年度受理申請一次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年度受理至 9 月 30 日止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4864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訓練費用先由企業支付，經分署審查核定後依核銷結果撥付補助款。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訓練類型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三種申請類型，補助上限不同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依申請單位的組成方式區分，計畫書的寫法與參訓對象範圍隨之不同。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84832"/>
            <a:ext cx="365760" cy="3657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08483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個別型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最高補助　</a:t>
            </a:r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00400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由一家事業單位申請辦理訓練。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429768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訓練對象為該單位之在職員工。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2544" y="182880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2084832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9784" y="208483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聯合型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72584" y="26060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最高補助　</a:t>
            </a:r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 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2584" y="3200400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由一家事業單位申請辦理聯合訓練，結合一家以上具產業或區域發展關聯性之事業單位共同參加。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72584" y="429768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適用於集團關係企業、供應鏈上下游、同區域同業。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5008" y="182880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5048" y="2084832"/>
            <a:ext cx="365760" cy="3657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5048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42248" y="208483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產業推升型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85048" y="26060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最高補助　</a:t>
            </a:r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85048" y="3200400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以經濟部「推動中堅企業躍升計畫」遴選之相關單位，或勞動部「國家人才發展獎」獲獎單位為申請對象。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85048" y="429768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需具備上述遴選或獲獎資格。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上述金額為年度訓練費用補助上限，不含稅額；實際核定金額依分署審查結果。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申請資格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誰可以申請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以就業保險投保人數為主要門檻，未達門檻者另有四條替代條件。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299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基本身分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民營事業機構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非營利法人或團體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82880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29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人數門檻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受僱勞工參加就業保險人數　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人（含）以上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8862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投保人數未滿 51 人：符合以下任一條件亦得申請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05840" y="4315968"/>
            <a:ext cx="292608" cy="29260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61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TTQS 企業機構版評核結果為通過以上，或辦訓能力檢核表為合格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315968"/>
            <a:ext cx="292608" cy="29260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261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曾獲國家人力創新獎、國家訓練品質獎、國家人才發展獎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4882896"/>
            <a:ext cx="292608" cy="29260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828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申請小型企業人力提升計畫，經分署認定已具辦訓能力而不予提供後續訓練課程辦理事宜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882896"/>
            <a:ext cx="292608" cy="29260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828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接受小型企業人力提升計畫輔導服務及訓練課程達三年以上，且未繼續申請該計畫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補助比率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補助多少，補助什麼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一般課程補助 50%；派訓特定年齡層員工參加外部訓練，該課程補助比率提高至 70%。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299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補助比率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377440"/>
          <a:ext cx="46634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1005840" y="43159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派訓對象為 29 歲以下青年或 45 歲以上中高齡勞工者適用 70%。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82880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2029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可申請補助的費用項目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09360" y="2450592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內部訓練：講師鐘點費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內部訓練：非自有場地之場地費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內部訓練：教材與講義製作費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外部訓練：學員訓練費用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外部訓練：必要之交通費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52578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工作崗位實作類課程不予補助。廣告投放預算、平台架設與後台使用費、設備採購費用不屬於訓練費用補助範圍。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課程分類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計畫認可的課程種類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訓練計畫書中每一門課都必須對應到指定的課程種類與課程大類。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一般性課程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依部門功能與專業領域規劃，時數彈性最高。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每梯最少 2 小時，以整點為單位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2544" y="18288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201168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關鍵就業力課程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2584" y="239572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對應知識職能（KC）、動機職能（DC）、人際職能（BC）之指定單元。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72584" y="32004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每梯 2 至 8 小時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18288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85048" y="201168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共同核心職能課程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5048" y="239572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工作價值與願景、群我倫理與績效、專業精神與自我管理等共通職能。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85048" y="32004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每梯 2 至 8 小時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402336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一般性課程的課程大類（擇一對應）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・專業技能：生產作業與採購庫存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34840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・專業技能：行銷、業務與服務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63840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・專業技能：人力資源發展與總務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5840" y="4645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・專業技能：產品研發、設計、創新與科技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34840" y="4645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・專業技能：財務、會計與稅務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63840" y="4645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・專業技能：品質管理與保證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" y="4919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・專業技能：資訊技術與軟硬體應用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34840" y="4919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・專業技能：環保、安全及衛生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63840" y="4919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・一般技能：語文、溝通、會議與專案管理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5193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・主管管理能力與領導統馭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434840" y="5193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・新進員工訓練｜研發及創新能力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863840" y="5193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・企業內部講師訓練或數位教材製作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566928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課程若對應亞洲矽谷、生技醫療、綠能科技、智慧機械、新農業、循環經濟、AI 人工智慧、資安產業、淨零碳排等政策議題，需於計畫書中標註。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課程規格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排課時必須遵守的規定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人數、時數、梯次的限制會直接影響課綱怎麼切、要開幾梯。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28316" cy="2148840"/>
          </a:xfrm>
          <a:prstGeom prst="roundRect">
            <a:avLst>
              <a:gd name="adj" fmla="val 3404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5–50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人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內部訓練每梯人數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低於 5 人不成班，超過 50 人須分梯。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4428" y="1920240"/>
            <a:ext cx="252831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98748" y="214884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人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98748" y="278892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外部訓練每堂課人數上限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98748" y="3401568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外訓班級規模小，適合主管或種子人員。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1920240"/>
            <a:ext cx="2528316" cy="2148840"/>
          </a:xfrm>
          <a:prstGeom prst="roundRect">
            <a:avLst>
              <a:gd name="adj" fmla="val 3404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83096" y="214884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小時起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83096" y="278892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一般性課程每梯時數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3096" y="3401568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以整點為單位，不得出現半小時。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93124" y="1920240"/>
            <a:ext cx="252831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67444" y="214884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2–8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小時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67444" y="278892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職能類課程每梯時數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67444" y="3401568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關鍵就業力與共同核心職能課程適用。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排課時一併確認的欄位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4846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訓練類型（內訓／外訓）　｜　總梯次與每梯天數、場次　｜　每梯參訓人數及男女人數　｜　是否為新南向政策課程　｜　是否為工作崗位實作類課程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57784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工作崗位實作類課程於系統中填選「是」者不予補助，排課時須避開。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從申請到撥款的完整流程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五個階段，橫跨提出申請到經費核銷結案。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059229" cy="2331720"/>
          </a:xfrm>
          <a:prstGeom prst="roundRect">
            <a:avLst>
              <a:gd name="adj" fmla="val 3552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8526" y="2359152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8526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17849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提出申請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7849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備齊資格文件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線上系統登錄送件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041648"/>
            <a:ext cx="1784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9/30 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17597" y="3246120"/>
            <a:ext cx="109728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5613" y="2103120"/>
            <a:ext cx="2059229" cy="2331720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74059" y="2359152"/>
            <a:ext cx="402336" cy="40233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4059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82773" y="2852928"/>
            <a:ext cx="17849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審查核定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82773" y="3200400"/>
            <a:ext cx="17849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分署書面審查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核定補助額度與課程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82773" y="4041648"/>
            <a:ext cx="1784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分署作業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23130" y="3246120"/>
            <a:ext cx="109728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1146" y="2103120"/>
            <a:ext cx="2059229" cy="2331720"/>
          </a:xfrm>
          <a:prstGeom prst="roundRect">
            <a:avLst>
              <a:gd name="adj" fmla="val 3552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79592" y="2359152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959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8306" y="2852928"/>
            <a:ext cx="17849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開訓報備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8306" y="3200400"/>
            <a:ext cx="17849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學員名冊、課程表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開訓前完成報備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8306" y="4041648"/>
            <a:ext cx="1784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開訓前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28662" y="3246120"/>
            <a:ext cx="109728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56678" y="2103120"/>
            <a:ext cx="2059229" cy="2331720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85125" y="2359152"/>
            <a:ext cx="402336" cy="40233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85125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93838" y="2852928"/>
            <a:ext cx="17849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課程執行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93838" y="3200400"/>
            <a:ext cx="17849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依核定課表授課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簽到、紀錄、成果留存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93838" y="4041648"/>
            <a:ext cx="1784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訓練期間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34195" y="3246120"/>
            <a:ext cx="109728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2211" y="2103120"/>
            <a:ext cx="2059229" cy="2331720"/>
          </a:xfrm>
          <a:prstGeom prst="roundRect">
            <a:avLst>
              <a:gd name="adj" fmla="val 3552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290658" y="2359152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90658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99371" y="2852928"/>
            <a:ext cx="17849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核銷結案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99371" y="3200400"/>
            <a:ext cx="17849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單據編製與送件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審核後撥付補助款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99371" y="4041648"/>
            <a:ext cx="1784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結訓後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4800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訓練費用由企業先行支付，執行完畢並通過核銷審查後撥付補助款；執行期間分署得辦理實地訪視。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40080" y="534924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各階段之審查、核定與撥款作業時程依分署當年度公告辦理。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協助規劃範疇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從資格確認、需求盤點、課綱設計到核銷結案的協助範圍。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協助範圍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申請前、執行中、結案後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三個階段各自的協助項目，涵蓋文件、課程與行政。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56432" cy="3429000"/>
          </a:xfrm>
          <a:prstGeom prst="roundRect">
            <a:avLst>
              <a:gd name="adj" fmla="val 2133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8483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35608" y="208483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申請前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2651760"/>
            <a:ext cx="28163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投保人數與資格條件確認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訓練需求訪談與職能盤點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課綱設計與課程大類對應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訓練計畫書撰擬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線上系統登錄與送件協助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2544" y="1828800"/>
            <a:ext cx="345643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2584" y="2084832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48072" y="208483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執行中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72584" y="2651760"/>
            <a:ext cx="28163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開訓報備文件與學員名冊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講師安排與教材講義製作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授課執行與現場設備配置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簽到表與課堂紀錄管理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實地訪視文件預檢與陪同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1828800"/>
            <a:ext cx="3456432" cy="3429000"/>
          </a:xfrm>
          <a:prstGeom prst="roundRect">
            <a:avLst>
              <a:gd name="adj" fmla="val 2133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85048" y="208483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0536" y="208483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結案後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85048" y="2651760"/>
            <a:ext cx="28163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核銷單據編製與檢核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學員滿意度調查與彙整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訓練成果報告製作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成果影音與素材整理歸檔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次年度訓練方向建議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4864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以上為訓練計畫本身的協助範圍；行銷代理服務另見「服務內容」章節。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規劃方法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訓練需求怎麼變成課綱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四個步驟，把部門的實際問題對應到可申請、可驗收的課程。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24028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74320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部門訪談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3154680"/>
            <a:ext cx="1943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逐部門盤點現行工作流程、人力配置與待補能力，記錄具體場景而非抽象需求。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4972" y="3200400"/>
            <a:ext cx="182880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4428" y="196596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7036" y="2240280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703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17036" y="274320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能力缺口彙整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17036" y="3154680"/>
            <a:ext cx="1943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將訪談結果整理為能力缺口清單，區分「立即可用」與「長期養成」兩類。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200400"/>
            <a:ext cx="182880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96596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1384" y="224028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01384" y="274320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課程對應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01384" y="3154680"/>
            <a:ext cx="1943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每項缺口對應到課程名稱、課程種類、課程大類與時數，形成可送審的課表。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73668" y="3200400"/>
            <a:ext cx="182880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93124" y="196596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85732" y="2240280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57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85732" y="274320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績效指標設定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85732" y="3154680"/>
            <a:ext cx="1943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為每門課設定可驗收的產出與指標，供訪視與結案報告使用。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51560" y="47091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審查看的是「訓練需求分析 → 課程設計 → 績效指標」的完整邏輯，一份課程清單並不構成訓練計畫書。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課綱設計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數位行銷類課程的能力養成路徑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課程順序決定學員能不能在結訓時交出實際產出。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28316" cy="2514600"/>
          </a:xfrm>
          <a:prstGeom prst="roundRect">
            <a:avLst>
              <a:gd name="adj" fmla="val 2909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21284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拍攝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3127248"/>
            <a:ext cx="1943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手機商品拍攝、自媒體影音拍攝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光線、構圖與器材操作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4041648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小時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4116" y="3200400"/>
            <a:ext cx="164592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4428" y="1965960"/>
            <a:ext cx="252831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7036" y="2212848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7036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17036" y="2724912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後製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17036" y="3127248"/>
            <a:ext cx="1943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剪輯實作、字幕與封面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影音腳本規劃與應用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17036" y="4041648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小時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98464" y="3200400"/>
            <a:ext cx="164592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965960"/>
            <a:ext cx="2528316" cy="2514600"/>
          </a:xfrm>
          <a:prstGeom prst="roundRect">
            <a:avLst>
              <a:gd name="adj" fmla="val 2909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1384" y="221284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1384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01384" y="2724912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社群與廣告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01384" y="3127248"/>
            <a:ext cx="1943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社群操作實務、廣告投放實務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電商行銷與銷售頁製作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1384" y="4041648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小時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82812" y="3200400"/>
            <a:ext cx="164592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93124" y="1965960"/>
            <a:ext cx="252831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85732" y="2212848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573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85732" y="2724912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數據與管理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285732" y="3127248"/>
            <a:ext cx="1943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數據分析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目標、績效管理與 KPI 設定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85732" y="4041648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小時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54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四個階段可依部門分班進行，也可拆為多梯次跨月執行。實際時數與課程組合依需求盤點結果調整。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53035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課程費用不含廣告投放預算；可視企業檔期協助設定廣告平台與投放操作。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各階段的工作分配與作業時程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企業需要投入的部分集中在人員派訓、資料提供與文件用印。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834640"/>
                <a:gridCol w="2743200"/>
                <a:gridCol w="2286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知育行銷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貴公司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作業時程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資格確認與補助試算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主辦｜文件檢核與試算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提供｜投保人數、年齡分布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收件後 3 個工作天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訓練需求訪談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主辦｜訪談設計與彙整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受訪｜各部門主管出席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半日至一日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課綱與計畫書撰擬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主辦｜全份撰擬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提供｜人事資料與訓練紀錄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訪談後 5 個工作天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線上系統送件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協辦｜代填與檢核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提供｜系統帳號與用印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送件期限前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開訓報備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主辦｜名冊與課表製作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確認｜派訓名單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開訓前 14 個工作天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課程執行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主辦｜講師、教材、設備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提供｜教室與網路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依核定課表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簽到與課堂紀錄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主辦｜表單製作與掃描回傳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執行｜點名與補簽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每堂課後 3 個工作天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實地訪視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協辦｜文件預檢與現場陪同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出席｜負責人或訓練主管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訪視前 5 個工作天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核銷結案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主辦｜單據編製與送件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提供｜用印與付款憑證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結訓後 15 個工作天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436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作業時程為知育行銷之內部作業承諾，得列入合約附件；分署端審查與撥款時程不在此範圍。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服務內容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四大模組、課程執行方式、交付物與課程規模。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服務模組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四大服務模組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涵蓋內容規劃、社群經營、廣告投放與影音製作，可單獨執行或組合搭配。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28316" cy="3520440"/>
          </a:xfrm>
          <a:prstGeom prst="roundRect">
            <a:avLst>
              <a:gd name="adj" fmla="val 2893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08483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578608"/>
            <a:ext cx="19431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內容策略與腳本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3291840"/>
            <a:ext cx="19431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品牌定位與受眾輪廓盤點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月度主題軸線與內容行事曆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短影音口播腳本、輪播貼文腳本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文案發想與企劃撰寫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4428" y="1828800"/>
            <a:ext cx="2528316" cy="3520440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17036" y="2084832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7036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17036" y="2578608"/>
            <a:ext cx="19431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社群經營與發文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17036" y="3291840"/>
            <a:ext cx="19431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帳號健檢與版面重整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發文排程與跨平台同步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留言與私訊回覆規範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素材庫建置與命名規則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8776" y="1828800"/>
            <a:ext cx="2528316" cy="3520440"/>
          </a:xfrm>
          <a:prstGeom prst="roundRect">
            <a:avLst>
              <a:gd name="adj" fmla="val 2893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08483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1384" y="2578608"/>
            <a:ext cx="19431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廣告投放與數據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01384" y="3291840"/>
            <a:ext cx="19431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廣告帳號結構與追蹤碼設定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受眾測試與素材輪替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曝光、點擊率、單次成本、轉換率、ROAS 追蹤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報表與轉換監控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93124" y="1828800"/>
            <a:ext cx="2528316" cy="3520440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85732" y="2084832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573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5732" y="2578608"/>
            <a:ext cx="19431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影音拍攝與製作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85732" y="3291840"/>
            <a:ext cx="19431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商品、形象與人物專訪拍攝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剪輯後製、字幕與封面設計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內部培訓影片與宣導片製作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多平台尺寸輸出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訓練費用補助僅適用於課程輔導部分；代營運、代操與商業拍攝屬另行報價之服務項目。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執行方式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課程怎麼上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學科講授搭配術科實作，課堂上直接產出可用的成品。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29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現場配置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講師一名、助教一名同時在場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提供手機穩定器、基本燈具與光板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學員以自有手機實作，降低設備門檻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分組進行，每組完成一件作品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課後提供剪輯軟體操作說明與範本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29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SDE 當日剪輯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4505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Edit，指在課程進行的同一天內完成拍攝、剪輯與上架的作業方式。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3127248"/>
            <a:ext cx="329184" cy="329184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30998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腳本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3630168"/>
            <a:ext cx="329184" cy="329184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36027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素材拍攝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4133088"/>
            <a:ext cx="329184" cy="329184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41056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後製剪輯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4636008"/>
            <a:ext cx="329184" cy="32918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46085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上架發布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課程結束當天即完成發布，成果可直接作為訪視佐證與行銷素材。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各階段交付的文件與成果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所有交付物同步存放於共享雲端資料夾，可隨時查閱最新版本。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37490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交付物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資格確認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資格檢核表、補助試算表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確認訓練類型與預估規模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計畫送件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訓練計畫書、課綱、講師資格文件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分署審查依據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學員名冊、課程表、教材與講義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開訓報備與課堂使用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課程執行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簽到表、課堂紀錄、課程成果影音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訪視佐證與成果留存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實地訪視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文件預檢清單、應答重點整理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訪視當日使用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核銷結案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核銷單據包、滿意度調查、成果報告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請領補助款與次年度參考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321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課程成果影音之著作財產權歸屬企業，知育行銷保留作品集展示權；如需完全排除展示，可於合約中約定。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規模參考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常見的三種課程規模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以下為過往企業採用的規模區間，實際課綱與報價依需求盤點結果提供。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5643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5740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入門規模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20–48 小時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60120" y="3035808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聚焦單一能力面向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單一部門、一至二梯次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適合首次申請、建立辦訓紀錄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4389120"/>
            <a:ext cx="2816352" cy="0"/>
          </a:xfrm>
          <a:prstGeom prst="line">
            <a:avLst/>
          </a:prstGeom>
          <a:noFill/>
          <a:ln w="12700">
            <a:solidFill>
              <a:srgbClr val="DED7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50799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預期產出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短影音成品 10–15 支、基礎課程講義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1828800"/>
            <a:ext cx="345643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205740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標準規模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24688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100–200 小時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672584" y="3035808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四段式路徑完整涵蓋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跨部門、多梯次分班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含內訓與外訓混合編排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72584" y="4389120"/>
            <a:ext cx="2816352" cy="0"/>
          </a:xfrm>
          <a:prstGeom prst="line">
            <a:avLst/>
          </a:prstGeom>
          <a:noFill/>
          <a:ln w="12700">
            <a:solidFill>
              <a:srgbClr val="DED7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450799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預期產出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短影音 30 支以上、廣告帳號重建、成效報告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65008" y="1828800"/>
            <a:ext cx="3456432" cy="3337560"/>
          </a:xfrm>
          <a:prstGeom prst="roundRect">
            <a:avLst>
              <a:gd name="adj" fmla="val 219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85048" y="205740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完整規模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85048" y="24688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300–480 小時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385048" y="3035808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涵蓋行銷、管理與職能課程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多廠區或多部門同步進行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可搭配聯合型申請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85048" y="4389120"/>
            <a:ext cx="2816352" cy="0"/>
          </a:xfrm>
          <a:prstGeom prst="line">
            <a:avLst/>
          </a:prstGeom>
          <a:noFill/>
          <a:ln w="12700">
            <a:solidFill>
              <a:srgbClr val="5A53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450799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預期產出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完整內容系統、內訓影音庫、年度成果報告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課程費用之 50%–70% 由計畫補助支應，企業實付金額於課綱確認後提供試算表。所有金額均為未稅價。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企業輔導實例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實際規劃過的課程結構、主題分布與合作企業。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輔導實例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信功肉品｜480 小時課程規劃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食品加工業，跨部門訓練規劃，24 門課程、480 小時，涵蓋行銷、影音、數據與管理職能。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56432" cy="1051560"/>
          </a:xfrm>
          <a:prstGeom prst="roundRect">
            <a:avLst>
              <a:gd name="adj" fmla="val 6957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20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門課程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243230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門 16 小時、12 門 24 小時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783080"/>
            <a:ext cx="3456432" cy="1051560"/>
          </a:xfrm>
          <a:prstGeom prst="roundRect">
            <a:avLst>
              <a:gd name="adj" fmla="val 6957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1920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</a:t>
            </a:r>
            <a:pPr indent="0" marL="0"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小時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72584" y="243230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全年度訓練總時數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456432" cy="1051560"/>
          </a:xfrm>
          <a:prstGeom prst="roundRect">
            <a:avLst>
              <a:gd name="adj" fmla="val 6957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85048" y="1920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大能力面向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85048" y="243230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影音、社群廣告、數據、管理、內訓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課程表節選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401568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401568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社群操作實務操作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34015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52544" y="3401568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53712" y="3401568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電商行銷、銷售頁製作訓練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95744" y="34015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65008" y="3401568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66176" y="3401568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手機商品拍攝訓練（靜態拍攝）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808208" y="34015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393192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影音腳本規劃應用實作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83280" y="39319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52544" y="3931920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53712" y="393192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數據分析及認證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95744" y="39319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65008" y="3931920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66176" y="393192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內部培訓影片輔導製作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808208" y="39319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462272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" y="446227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廣告投放實務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83280" y="44622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52544" y="4462272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53712" y="446227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高流量社群影音製作與 AI 生成應用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95744" y="44622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65008" y="4462272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66176" y="446227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品牌行銷力實戰攻略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808208" y="44622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" y="4992624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41248" y="49926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藝術文案：品牌故事書寫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383280" y="49926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352544" y="4992624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53712" y="49926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掌握顧客心理網路銷售模式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095744" y="49926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065008" y="4992624"/>
            <a:ext cx="3456432" cy="438912"/>
          </a:xfrm>
          <a:prstGeom prst="roundRect">
            <a:avLst>
              <a:gd name="adj" fmla="val 16667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266176" y="49926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文案發想、企劃撰寫與簡報技巧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0808208" y="49926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40080" y="562356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以上為 24 門課程中之 12 門節選；完整課程表可於會議中提供。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課程結構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 小時的主題時數分布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以能力面向重新歸類後的時數配置，可作為規劃自身課綱時的比例參考。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5528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753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配置邏輯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75320" y="2487168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影音與社群廣告合計 240 小時，佔一半，對應實際行銷產出需求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管理與職能發展 128 小時，涵蓋 KPI 設定、人才發展與外包管理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數據與 AI 應用 56 小時，作為前述課程的驗收與延伸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內訓平台與文書 56 小時，把訓練成果留在企業內部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合作企業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其他輔導與服務企業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跨食品製造、農產、餐飲、旅宿、教育與服務業，涵蓋計畫申請、課程執行與行銷代理。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29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計畫申請與課程執行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信功肉品｜480 小時課程規劃與執行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臺南蛋品｜計畫申請文件與課程執行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義盟興眼鏡｜輔導專案與數位轉型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如記食品｜訓練課程與品牌內容輔導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萬科｜課程執行與訪視文件管理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29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行銷代理與內容服務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48716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弋果美語｜廣告投放代操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高雄萬豪酒店｜社群與影音內容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白鴿婚禮顧問｜品牌行銷策劃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藝隆農產、香蕉策略聯盟｜農產品牌內容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奧比餐飲集團｜數位轉型輔導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722120" cy="502920"/>
          </a:xfrm>
          <a:prstGeom prst="roundRect">
            <a:avLst>
              <a:gd name="adj" fmla="val 1818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206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食品製造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71928" y="5120640"/>
            <a:ext cx="1722120" cy="502920"/>
          </a:xfrm>
          <a:prstGeom prst="roundRect">
            <a:avLst>
              <a:gd name="adj" fmla="val 1818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1928" y="51206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農產運銷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03776" y="5120640"/>
            <a:ext cx="1722120" cy="502920"/>
          </a:xfrm>
          <a:prstGeom prst="roundRect">
            <a:avLst>
              <a:gd name="adj" fmla="val 1818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3776" y="51206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餐飲服務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35624" y="5120640"/>
            <a:ext cx="1722120" cy="502920"/>
          </a:xfrm>
          <a:prstGeom prst="roundRect">
            <a:avLst>
              <a:gd name="adj" fmla="val 1818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51206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旅宿觀光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67472" y="5120640"/>
            <a:ext cx="1722120" cy="502920"/>
          </a:xfrm>
          <a:prstGeom prst="roundRect">
            <a:avLst>
              <a:gd name="adj" fmla="val 1818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7472" y="51206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教育產業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799320" y="5120640"/>
            <a:ext cx="1722120" cy="502920"/>
          </a:xfrm>
          <a:prstGeom prst="roundRect">
            <a:avLst>
              <a:gd name="adj" fmla="val 1818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99320" y="51206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婚禮服務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完整作品集與各案例之課程表、成果報告可依貴公司產業提供對應資料。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後續聯繫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如需進一步評估，可提供最近一期投保人數證明與員工年齡分布，我方將於 3 個工作天內回覆資格確認與補助試算。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3A352F"/>
          </a:solidFill>
          <a:ln w="12700">
            <a:solidFill>
              <a:srgbClr val="4A4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黃皇賓　BEN HUANG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執行長　知育行銷有限公司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電話　0983-339-790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　zhiyumkt@gmail.com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365760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3A352F"/>
          </a:solidFill>
          <a:ln w="12700">
            <a:solidFill>
              <a:srgbClr val="4A44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服務區域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427939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高雄、屏東、台南為主，可到廠授課與拍攝。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團隊四人編制：策略與授課、拍攝剪輯、平面企劃、行政核銷。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知育行銷有限公司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企業人力資源提升計畫｜計劃說明與服務內容</dc:title>
  <dc:subject>PptxGenJS Presentation</dc:subject>
  <dc:creator>知育行銷有限公司</dc:creator>
  <cp:lastModifiedBy>知育行銷有限公司</cp:lastModifiedBy>
  <cp:revision>1</cp:revision>
  <dcterms:created xsi:type="dcterms:W3CDTF">2026-08-10T10:12:06Z</dcterms:created>
  <dcterms:modified xsi:type="dcterms:W3CDTF">2026-08-10T10:12:06Z</dcterms:modified>
</cp:coreProperties>
</file>