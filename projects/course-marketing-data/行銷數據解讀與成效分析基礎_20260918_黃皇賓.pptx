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charts/chart1.xml" ContentType="application/vnd.openxmlformats-officedocument.drawingml.chart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</p:sldIdLst>
  <p:notesMasterIdLst>
    <p:notesMasterId r:id="rId6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notesMaster" Target="notesMasters/notesMaster1.xml"/><Relationship Id="rId69" Type="http://schemas.openxmlformats.org/officeDocument/2006/relationships/presProps" Target="presProps.xml"/><Relationship Id="rId70" Type="http://schemas.openxmlformats.org/officeDocument/2006/relationships/viewProps" Target="viewProps.xml"/><Relationship Id="rId71" Type="http://schemas.openxmlformats.org/officeDocument/2006/relationships/theme" Target="theme/theme1.xml"/><Relationship Id="rId7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221F1C"/>
                </a:solidFill>
                <a:latin typeface="Microsoft JhengHei"/>
              </a:defRPr>
            </a:pPr>
            <a:r>
              <a:rPr sz="1500" b="0" i="0" u="none" strike="noStrike">
                <a:solidFill>
                  <a:srgbClr val="221F1C"/>
                </a:solidFill>
                <a:latin typeface="Microsoft JhengHei"/>
              </a:rPr>
              <a:t>近六週 ROAS 走勢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ROAS</c:v>
                </c:pt>
              </c:strCache>
            </c:strRef>
          </c:tx>
          <c:spPr>
            <a:solidFill>
              <a:srgbClr val="B45B33"/>
            </a:solidFill>
            <a:ln w="38100" cap="flat">
              <a:solidFill>
                <a:srgbClr val="B45B3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45B33"/>
              </a:solidFill>
              <a:ln w="9525" cap="flat">
                <a:solidFill>
                  <a:srgbClr val="B45B3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W31</c:v>
                  </c:pt>
                  <c:pt idx="1">
                    <c:v>W32</c:v>
                  </c:pt>
                  <c:pt idx="2">
                    <c:v>W33</c:v>
                  </c:pt>
                  <c:pt idx="3">
                    <c:v>W34</c:v>
                  </c:pt>
                  <c:pt idx="4">
                    <c:v>W35</c:v>
                  </c:pt>
                  <c:pt idx="5">
                    <c:v>W36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1.6</c:v>
                </c:pt>
                <c:pt idx="1">
                  <c:v>1.8</c:v>
                </c:pt>
                <c:pt idx="2">
                  <c:v>1.7</c:v>
                </c:pt>
                <c:pt idx="3">
                  <c:v>2.1</c:v>
                </c:pt>
                <c:pt idx="4">
                  <c:v>2.4</c:v>
                </c:pt>
                <c:pt idx="5">
                  <c:v>2.6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損益兩平（2.2）</c:v>
                </c:pt>
              </c:strCache>
            </c:strRef>
          </c:tx>
          <c:spPr>
            <a:solidFill>
              <a:srgbClr val="8A8177"/>
            </a:solidFill>
            <a:ln w="38100" cap="flat">
              <a:solidFill>
                <a:srgbClr val="8A817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A8177"/>
              </a:solidFill>
              <a:ln w="9525" cap="flat">
                <a:solidFill>
                  <a:srgbClr val="8A817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W31</c:v>
                  </c:pt>
                  <c:pt idx="1">
                    <c:v>W32</c:v>
                  </c:pt>
                  <c:pt idx="2">
                    <c:v>W33</c:v>
                  </c:pt>
                  <c:pt idx="3">
                    <c:v>W34</c:v>
                  </c:pt>
                  <c:pt idx="4">
                    <c:v>W35</c:v>
                  </c:pt>
                  <c:pt idx="5">
                    <c:v>W36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2.2</c:v>
                </c:pt>
                <c:pt idx="1">
                  <c:v>2.2</c:v>
                </c:pt>
                <c:pt idx="2">
                  <c:v>2.2</c:v>
                </c:pt>
                <c:pt idx="3">
                  <c:v>2.2</c:v>
                </c:pt>
                <c:pt idx="4">
                  <c:v>2.2</c:v>
                </c:pt>
                <c:pt idx="5">
                  <c:v>2.2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81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"/>
          <c:min val="0"/>
        </c:scaling>
        <c:delete val="0"/>
        <c:axPos val="l"/>
        <c:majorGridlines>
          <c:spPr>
            <a:ln w="12700" cap="flat">
              <a:solidFill>
                <a:srgbClr val="DED4C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81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A443C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 3 分鐘。先自我介紹，再說今天的承諾：下課時每個人手上都有一張自己的診斷表，回公司就能用。不要在封面停超過 1 分鐘。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講一個自己判斷錯誤、燒掉預算的真實案例，30 秒內收。建立「我跟你一樣在現場」的位置，比講頭銜有用。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期待對焦是防止客訴的關鍵。明確講出不談什麼，學員才不會整天等一個不會來的東西。花 2 分鐘就好。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休息時間：10:30、12:00 午餐、14:30、16:00。實際上課依現場調整，但一定要守午餐時間。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這頁停 30 秒，讓學員真的想。點兩位回答，把答案寫在白板上，最後一頁再回來對照。這是整天的錨點。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刻意給不完整的資訊，讓學員發現自己會下意識猜。帶出模組一的核心：一個數字沒有比較對象就沒有意義。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過場頁只停 15 秒，直接進下一頁。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這裡要壓住一個觀念：報表不是產出，決定才是產出。可以問現場「你們公司的月報，看完真的會改做法嗎」，通常會笑。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強調第二項「跟目標比」最常被忽略。多數公司沒算過自己的 CPA 上限，所以永遠在吵廣告貴不貴。這條會在模組三接回來。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這是整天最重要的一張圖，後面每個模組都會回來指這張。可以請學員把它抄在筆記第一頁。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這張表印成 A4 發下去。學員之後回公司最常用的就是最右邊那一欄。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補充：CPM 受眾愈窄通常愈貴。舉例高雄在地服務業的受眾窄，CPM 自然比全台電商高，不能直接拿去比。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特別強調最後一列：互動率高不代表會賣。很多客戶被「這支影片爆了」誤導，結果一張訂單都沒有。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AOV 是最少人動的槓桿。舉例：客單從 800 提到 1,200，同樣的 CPA 就從危險變安全，不用改半個廣告設定。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這裡用如記食品那類健康食品舉例：七日組合是入門，真正的獲利在第二次、第三次回購。不要點名客戶，用「某食品客戶」帶過。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這裡放一個真實對比：某支影片 10 萬觀看 0 訂單，另一支 8 千觀看 32 張訂單。學員印象會很深。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這是實務上最常吵架的點：行銷說轉換率 2%，電商說 0.8%，兩邊都沒錯，分母不同。要求學員以後報數字一律附分母。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現場可以打開 Excel 示範一次：三欄（指標、中位數、正常區間），五分鐘做完。學員回去照抄就有。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問學員：如果老闆只看得懂「多少人看到」，你要怎麼講？引導出「用同一個預算能買到幾張訂單」這種翻譯方式。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巡場時重點看兩件事：有沒有人把互動指標當成轉換指標、有沒有人整份報表都在曝光層。收尾請兩組分享缺了哪一層。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過場頁 15 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先講結論再解釋，學員會鬆一口氣：原來不是自己設定壞掉。這頁是模組二的定調頁。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這頁講慢一點，畫在白板上更好懂。重點是：沒有一個設定是對的，只有「你選了哪一種視角」。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提醒：iOS 隱私政策之後，瀏覽後轉換的可信度下降，但趨勢仍可用。不要陷入技術細節，5 分鐘帶過。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常見錯誤：目標設流量卻期待訂單。系統會老實地把最會亂點的人找給你。這個例子一定要講。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現場示範一次「自訂欄位 → 儲存為預設」。這是學員當天回去就會用的東西，示範價值最高。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不要開介面亂逛，只示範流量開發與探索漏斗兩個。GA4 教學一失控就會吃掉一小時。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提醒現場：很多網站的 purchase 有裝但沒帶 value，報表看起來正常，一算 ROAS 就是零。請他們回去當天檢查。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這頁務必請他們拍照。命名混亂是中小企業數據品質的第一殺手，修這個的投報率最高。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這頁對「有請代理商的企業」特別重要。教他們怎麼用正確的問題質疑代理商，而不是憑感覺不信任。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這個案例講的時候要誠實：當時是我們自己沒發現，被財務抓出來。誠實反而讓信任度提高。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這是午休前最後一個練習。沒有帳號權限的人很多，第 5 點要特別唸出來，讓他們不會空手。12:00 準時放午餐。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午休後第一頁，先做 2 分鐘的醒腦：請每組講一件上午最有感的事。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這頁是模組三的定調。可以自嘲：我前三年都是左邊那種人，花了很多冤枉錢才換到右邊。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全天最重要的一頁。請學員抄下來。強調這是順序性的檢查表，不是五個平行的指標。停留 5 分鐘。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補充：CPM 是少數你控制不了的指標。與其焦慮，不如把它當成環境參數，去調整能控制的素材與受眾。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第四列是最常見的情況，下一頁會展開。這裡先埋伏筆。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這頁對傳統產業最有感。舉例：某農產客戶只做了「把運費寫在第一屏」這一件事，CVR 從 0.7 升到 1.4。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這頁一定要帶學員一起算一次自己的。沒算過 CPA 上限的人，永遠在用感覺判斷廣告貴不貴。可停留 8 分鐘。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這頁跟前一頁是一組，都是「回到自己的生意算數字」。強調：不要拿同業的 ROAS 當標準，毛利結構不一樣。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這張表印成 A4 護貝發下去，是本課最高使用率的產出。逐列講解，每列配一個真實例子。停留 12 分鐘。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重點：素材已經證明有效（CTR 3.8%），再換素材等於把好的東西丟掉。問題在後面那一段。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強調預防：素材的產出節奏應該排進月行事曆。這也是拍攝剪輯人員存在的價值，可以順勢講內容團隊的配置。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這是管理階層最需要聽的一頁。老闆每天問數字，是逼行銷人員做出錯誤決定的主因之一。可以請他們把這頁拍給老闆看。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這三條是可以直接複製到公司 SOP 的。請學員現在就寫進手機備忘錄。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可以展示自己的測試紀錄表（Google Sheet 三欄：日期、變因、結果）。實物展示比說明有效。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分組演練 20 分鐘。解答：A 組斷在到站/轉換層（CTR 好 CVR 差，修頁面）；B 組斷在互動層（CTR 低，換素材）；C 組斷在曝光層（頻率 4.8、CPM 高，擴受眾＋換素材），但 C 效率最好，預算可先保。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「寫出預期」是這個練習的核心訓練。沒有預期就沒辦法驗證判斷對不對，也就無法累積經驗。14:30 休息。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過場頁 15 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呼應早上的 30 秒場景。老闆要的是決定，不是你的工作過程。過程放附錄，隨時可以調出來。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這個骨架不限於廣告報告，社群、EDM、活動檢討都能用。第 4 區塊是讓老闆有參與感的關鍵，不要省略。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現場讓兩位學員唸出左邊那段，全場會笑，因為太熟悉了。然後對照右邊，差別立刻感受得到。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補一句實務：報告裡圖表不要超過四張。圖太多，重點就沒了。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示範重點：那條灰色的損益兩平基準線，是整張圖最有價值的元素。加一條基準線，圖就從資料變成判斷。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高使用率產出。建議現場直接開一份 Google Doc 建成範本，下課前分享連結給全班。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很多公司只有月報，週報沒做，導致問題拖一個月才發現。可以建議從「每週五 30 分鐘」開始。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可以請兩位學員現場用自家數字練一次。這是全天最實用的溝通訓練，值得花 10 分鐘。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這頁講給有代理商經驗的人特別有共鳴。可以講自己主動報壞消息，結果客戶反而追加預算的例子。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結尾那列可以停一下，全場通常都笑。這是整個模組四的收尾錨點。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巡場時挑三份寫得好的，下課前唸出來（不具名）。16:00 休息，16:10 進最後一段。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刻意跟第 5 頁呼應。可以把白板上早上寫的答案翻出來對照，學員會很有成就感。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全天的核心句。講完停三秒不要說話，讓它沉下去。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請學員現在就把 Day 1 和 Day 2 排進手機行事曆。當場排的完成率，比回去再說高很多。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這四題幾乎每場都會被問，先講完可以省下 Q&amp;A 的時間，把時間留給個別帳戶的問題。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提醒主辦單位確認寄送名單。也可以留 LINE 官方帳號，讓學員回去操作卡住時有地方問。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結尾不要拖。講完最後一句就開放 Q&amp;A，並提醒填寫課後回饋表。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1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0"/>
            <a:ext cx="4327855" cy="6858000"/>
          </a:xfrm>
          <a:prstGeom prst="rect">
            <a:avLst/>
          </a:prstGeom>
          <a:solidFill>
            <a:srgbClr val="3A352E"/>
          </a:solidFill>
          <a:ln w="12700">
            <a:solidFill>
              <a:srgbClr val="3A35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1005840"/>
            <a:ext cx="3017520" cy="3017520"/>
          </a:xfrm>
          <a:prstGeom prst="roundRect">
            <a:avLst>
              <a:gd name="adj" fmla="val 4848"/>
            </a:avLst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03920" y="100584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看得懂</a:t>
            </a:r>
            <a:endParaRPr lang="en-US" sz="3000" dirty="0"/>
          </a:p>
          <a:p>
            <a:pPr algn="ctr" indent="0" marL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數字</a:t>
            </a:r>
            <a:endParaRPr lang="en-US" sz="3000" dirty="0"/>
          </a:p>
          <a:p>
            <a:pPr algn="ctr" indent="0" marL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才敢</a:t>
            </a:r>
            <a:endParaRPr lang="en-US" sz="3000" dirty="0"/>
          </a:p>
          <a:p>
            <a:pPr algn="ctr" indent="0" marL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做決定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23444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企業內訓課程｜8 小時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828800"/>
            <a:ext cx="6949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6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行銷數據解讀</a:t>
            </a:r>
            <a:endParaRPr lang="en-US" sz="5400" dirty="0"/>
          </a:p>
          <a:p>
            <a:pPr indent="0" marL="0">
              <a:lnSpc>
                <a:spcPts val="66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與成效分析基礎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868680" y="4315968"/>
            <a:ext cx="1280160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452628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ED4C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從看報表到下判斷，一天走完一輪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5166360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2026.09.18（四）　9:00–17:00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5532120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講師：黃皇賓　｜　知育行銷有限公司 執行長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講師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804672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我是誰，為什麼講這個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1005840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63550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行銷數據解讀與成效分析基礎｜黃皇賓｜知育行銷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60704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ED4C6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803136"/>
            <a:ext cx="358579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240280"/>
            <a:ext cx="3465576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240280"/>
            <a:ext cx="64008" cy="2057400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2459736"/>
            <a:ext cx="2916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932688" y="2880360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年電商實戰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932688" y="3282696"/>
            <a:ext cx="291693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從廣告投手到整體行銷規劃，經手過從零開始與從谷底翻身的帳戶。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361688" y="2240280"/>
            <a:ext cx="3465576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61688" y="2240280"/>
            <a:ext cx="64008" cy="2057400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54296" y="2459736"/>
            <a:ext cx="2916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4654296" y="2880360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條業務線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4654296" y="3282696"/>
            <a:ext cx="291693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廣告代操、企業輔導培訓、品牌與社群內容、數位行銷授課，四線同時在跑。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083296" y="2240280"/>
            <a:ext cx="3465576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83296" y="2240280"/>
            <a:ext cx="64008" cy="2057400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75904" y="2459736"/>
            <a:ext cx="2916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10+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8375904" y="2880360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個長期客戶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8375904" y="3282696"/>
            <a:ext cx="291693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食品、農產、教育、餐飲、飯店與婚顧，以傳統產業數位轉型為主。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448056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今天的內容都來自實際帳戶與實際報告，不是教科書上的定義。</a:t>
            </a:r>
            <a:endParaRPr lang="en-US" sz="1800" dirty="0"/>
          </a:p>
          <a:p>
            <a:pPr marL="342900" indent="-342900">
              <a:lnSpc>
                <a:spcPts val="2600"/>
              </a:lnSpc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我犯過的錯會全部講給你聽，可以少繞一年的路。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106424" cy="329184"/>
          </a:xfrm>
          <a:prstGeom prst="roundRect">
            <a:avLst>
              <a:gd name="adj" fmla="val 50000"/>
            </a:avLst>
          </a:prstGeom>
          <a:solidFill>
            <a:srgbClr val="E3E7DD"/>
          </a:solidFill>
          <a:ln w="12700">
            <a:solidFill>
              <a:srgbClr val="E3E7D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1106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7A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期待對焦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804672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今天談什麼，不談什麼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1005840" cy="54864"/>
          </a:xfrm>
          <a:prstGeom prst="rect">
            <a:avLst/>
          </a:prstGeom>
          <a:solidFill>
            <a:srgbClr val="6E7A61"/>
          </a:solidFill>
          <a:ln w="12700">
            <a:solidFill>
              <a:srgbClr val="6E7A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63550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行銷數據解讀與成效分析基礎｜黃皇賓｜知育行銷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60704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ED4C6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803136"/>
            <a:ext cx="537869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194560"/>
            <a:ext cx="5321808" cy="3291840"/>
          </a:xfrm>
          <a:prstGeom prst="roundRect">
            <a:avLst>
              <a:gd name="adj" fmla="val 2778"/>
            </a:avLst>
          </a:prstGeom>
          <a:solidFill>
            <a:srgbClr val="F6EAE4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194560"/>
            <a:ext cx="5321808" cy="457200"/>
          </a:xfrm>
          <a:prstGeom prst="rect">
            <a:avLst/>
          </a:prstGeom>
          <a:solidFill>
            <a:srgbClr val="9A5B4A"/>
          </a:solidFill>
          <a:ln w="12700">
            <a:solidFill>
              <a:srgbClr val="9A5B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96112" y="2194560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今天不談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2816352"/>
            <a:ext cx="4773168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統計學理論、迴歸分析、機器學習</a:t>
            </a:r>
            <a:endParaRPr lang="en-US" sz="17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把工具介面從頭點到尾的操作教學</a:t>
            </a:r>
            <a:endParaRPr lang="en-US" sz="17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「數據驅動」這四個字的哲學辯論</a:t>
            </a:r>
            <a:endParaRPr lang="en-US" sz="17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只有大預算才做得起來的方法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537960" y="2194560"/>
            <a:ext cx="5321808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37960" y="2194560"/>
            <a:ext cx="5321808" cy="457200"/>
          </a:xfrm>
          <a:prstGeom prst="rect">
            <a:avLst/>
          </a:prstGeom>
          <a:solidFill>
            <a:srgbClr val="6E7A61"/>
          </a:solidFill>
          <a:ln w="12700">
            <a:solidFill>
              <a:srgbClr val="6E7A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93992" y="2194560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今天要談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812280" y="2816352"/>
            <a:ext cx="4773168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一個數字出現時，先看它在漏斗的哪一層</a:t>
            </a:r>
            <a:endParaRPr lang="en-US" sz="17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怎麼判斷「這個數字算好還是算差」</a:t>
            </a:r>
            <a:endParaRPr lang="en-US" sz="17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找出成效卡住的那一個斷點</a:t>
            </a:r>
            <a:endParaRPr lang="en-US" sz="17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把判斷寫成老闆看得懂的一頁報告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40080" y="5623560"/>
            <a:ext cx="10908792" cy="658368"/>
          </a:xfrm>
          <a:prstGeom prst="roundRect">
            <a:avLst>
              <a:gd name="adj" fmla="val 13889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562356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驗收標準：下課時你能對任何一組廣告數據，說出三個具體動作。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106424" cy="329184"/>
          </a:xfrm>
          <a:prstGeom prst="roundRect">
            <a:avLst>
              <a:gd name="adj" fmla="val 50000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1106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課程地圖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804672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一天的路線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813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四個模組，每個模組結束都有一次動手練習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901952"/>
            <a:ext cx="1005840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63550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行銷數據解讀與成效分析基礎｜黃皇賓｜知育行銷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60704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ED4C6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803136"/>
            <a:ext cx="717159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40280"/>
          <a:ext cx="109087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749040"/>
                <a:gridCol w="533095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時間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模組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你會帶走什麼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09:00–10:30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模組一　數據思維與指標地圖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看到任何指標，知道它屬於哪一層、回答什麼問題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10:40–12:00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模組二　平台數據怎麼看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Meta、GA4、後台訂單三方數字對不起來時怎麼判斷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13:00–14:30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模組三　五大指標優化模型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用診斷表找出成效斷點，對應到具體動作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14:40–16:00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模組四　成效報告與決策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一頁報告的骨架與週報模板，直接套用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16:10–17:00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綜合演練與問答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現場完成一份自己帳戶的診斷與週報摘要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640080" y="5532120"/>
            <a:ext cx="10908792" cy="658368"/>
          </a:xfrm>
          <a:prstGeom prst="roundRect">
            <a:avLst>
              <a:gd name="adj" fmla="val 13889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4400" y="553212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全程手機可以拍，簡報下課後給檔；練習時間請優先用自己公司的真實數字。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21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97280" y="17373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老闆走過來問：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2331720"/>
            <a:ext cx="10241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7800"/>
              </a:lnSpc>
              <a:buNone/>
            </a:pPr>
            <a:r>
              <a:rPr lang="en-US" sz="6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「這波廣告到底</a:t>
            </a:r>
            <a:endParaRPr lang="en-US" sz="6200" dirty="0"/>
          </a:p>
          <a:p>
            <a:pPr indent="0" marL="0">
              <a:lnSpc>
                <a:spcPts val="7800"/>
              </a:lnSpc>
              <a:buNone/>
            </a:pPr>
            <a:r>
              <a:rPr lang="en-US" sz="6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有沒有效？」</a:t>
            </a:r>
            <a:endParaRPr lang="en-US" sz="6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4800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你有 30 秒。你會先說哪一個數字？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106424" cy="329184"/>
          </a:xfrm>
          <a:prstGeom prst="roundRect">
            <a:avLst>
              <a:gd name="adj" fmla="val 50000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1106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開場診斷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804672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三個數字，你敢下判斷嗎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813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同一個帳戶、同一週、三個廣告組合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901952"/>
            <a:ext cx="1005840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63550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行銷數據解讀與成效分析基礎｜黃皇賓｜知育行銷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60704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ED4C6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803136"/>
            <a:ext cx="1075738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377440"/>
            <a:ext cx="3453384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670048"/>
            <a:ext cx="34533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3.2%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703320"/>
            <a:ext cx="3453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點擊率 CTR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041648"/>
            <a:ext cx="3087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看起來不錯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67784" y="2377440"/>
            <a:ext cx="3453384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67784" y="2670048"/>
            <a:ext cx="34533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0.8%</a:t>
            </a:r>
            <a:endParaRPr lang="en-US" sz="5400" dirty="0"/>
          </a:p>
        </p:txBody>
      </p:sp>
      <p:sp>
        <p:nvSpPr>
          <p:cNvPr id="17" name="Text 15"/>
          <p:cNvSpPr txBox="1"/>
          <p:nvPr/>
        </p:nvSpPr>
        <p:spPr>
          <a:xfrm>
            <a:off x="4367784" y="3703320"/>
            <a:ext cx="3453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轉換率 CVR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550664" y="4041648"/>
            <a:ext cx="3087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看起來很差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95488" y="2377440"/>
            <a:ext cx="3453384" cy="2377440"/>
          </a:xfrm>
          <a:prstGeom prst="roundRect">
            <a:avLst>
              <a:gd name="adj" fmla="val 3846"/>
            </a:avLst>
          </a:prstGeom>
          <a:solidFill>
            <a:srgbClr val="221F1C"/>
          </a:solidFill>
          <a:ln w="12700">
            <a:solidFill>
              <a:srgbClr val="221F1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95488" y="2670048"/>
            <a:ext cx="34533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NT$820</a:t>
            </a:r>
            <a:endParaRPr lang="en-US" sz="5400" dirty="0"/>
          </a:p>
        </p:txBody>
      </p:sp>
      <p:sp>
        <p:nvSpPr>
          <p:cNvPr id="21" name="Text 19"/>
          <p:cNvSpPr txBox="1"/>
          <p:nvPr/>
        </p:nvSpPr>
        <p:spPr>
          <a:xfrm>
            <a:off x="8095488" y="3703320"/>
            <a:ext cx="3453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單次購買成本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278368" y="4041648"/>
            <a:ext cx="3087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ED4C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算好還是算差？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502920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少了三件事，這三個數字沒辦法判斷：客單價多少、毛利率多少、上週是多少。</a:t>
            </a:r>
            <a:endParaRPr lang="en-US" sz="1800" dirty="0"/>
          </a:p>
          <a:p>
            <a:pPr marL="342900" indent="-342900">
              <a:lnSpc>
                <a:spcPts val="2600"/>
              </a:lnSpc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數據判讀的第一個動作，是把缺的脈絡補回來，而不是急著給結論。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21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97280" y="2011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模組一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260604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數據思維與指標地圖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97280" y="3886200"/>
            <a:ext cx="1280160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4160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ED4C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09:00–10:30　｜　建立共同語言：漏斗四層、比較基準、分母思維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453896" cy="329184"/>
          </a:xfrm>
          <a:prstGeom prst="roundRect">
            <a:avLst>
              <a:gd name="adj" fmla="val 50000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1453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迷思 1／3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804672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數據的用途只有一個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813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把它從「交差的素材」變成「決策的依據」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901952"/>
            <a:ext cx="1005840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63550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行銷數據解讀與成效分析基礎｜黃皇賓｜知育行銷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60704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ED4C6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803136"/>
            <a:ext cx="1434317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240280"/>
            <a:ext cx="5321808" cy="3200400"/>
          </a:xfrm>
          <a:prstGeom prst="roundRect">
            <a:avLst>
              <a:gd name="adj" fmla="val 2857"/>
            </a:avLst>
          </a:prstGeom>
          <a:solidFill>
            <a:srgbClr val="F6EAE4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240280"/>
            <a:ext cx="5321808" cy="457200"/>
          </a:xfrm>
          <a:prstGeom prst="rect">
            <a:avLst/>
          </a:prstGeom>
          <a:solidFill>
            <a:srgbClr val="9A5B4A"/>
          </a:solidFill>
          <a:ln w="12700">
            <a:solidFill>
              <a:srgbClr val="9A5B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2240280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✕　常見誤解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2862072"/>
            <a:ext cx="477316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月底整理一份報表交給老闆，任務完成</a:t>
            </a:r>
            <a:endParaRPr lang="en-US" sz="17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數字好看就放大、數字難看就少講</a:t>
            </a:r>
            <a:endParaRPr lang="en-US" sz="17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報表愈完整愈好，能放的欄位都放上去</a:t>
            </a:r>
            <a:endParaRPr lang="en-US" sz="17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看完報表，下週還是照原本的做法跑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537960" y="2240280"/>
            <a:ext cx="5321808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37960" y="2240280"/>
            <a:ext cx="5321808" cy="457200"/>
          </a:xfrm>
          <a:prstGeom prst="rect">
            <a:avLst/>
          </a:prstGeom>
          <a:solidFill>
            <a:srgbClr val="6E7A61"/>
          </a:solidFill>
          <a:ln w="12700">
            <a:solidFill>
              <a:srgbClr val="6E7A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93992" y="2240280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　正確理解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812280" y="2862072"/>
            <a:ext cx="477316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每個數字都要指向一個「下週要改什麼」</a:t>
            </a:r>
            <a:endParaRPr lang="en-US" sz="17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難看的數字才有情報價值，好看的只是結果</a:t>
            </a:r>
            <a:endParaRPr lang="en-US" sz="17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只留能改變決定的欄位，其他都是雜訊</a:t>
            </a:r>
            <a:endParaRPr lang="en-US" sz="17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看完報表，至少產生三個具體動作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40080" y="5577840"/>
            <a:ext cx="10908792" cy="658368"/>
          </a:xfrm>
          <a:prstGeom prst="roundRect">
            <a:avLst>
              <a:gd name="adj" fmla="val 13889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557784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檢查方法：把這份報表刪掉，下週的做法會不一樣嗎？不會，就代表這份報表沒用。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106424" cy="329184"/>
          </a:xfrm>
          <a:prstGeom prst="roundRect">
            <a:avLst>
              <a:gd name="adj" fmla="val 50000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1106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核心觀念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804672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一個數字要有比較對象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813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三種比較，缺一種判斷就會歪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901952"/>
            <a:ext cx="1005840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63550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行銷數據解讀與成效分析基礎｜黃皇賓｜知育行銷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60704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ED4C6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803136"/>
            <a:ext cx="1613607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286000"/>
            <a:ext cx="3465576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286000"/>
            <a:ext cx="64008" cy="2926080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32688" y="2505456"/>
            <a:ext cx="2916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932688" y="2926080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跟自己的過去比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3328416"/>
            <a:ext cx="291693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上週、上月、去年同期。看趨勢與波動，排除季節性因素。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最常用，也最可靠。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361688" y="2286000"/>
            <a:ext cx="3465576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61688" y="2286000"/>
            <a:ext cx="64008" cy="2926080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54296" y="2505456"/>
            <a:ext cx="2916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4654296" y="2926080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跟目標比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4654296" y="3328416"/>
            <a:ext cx="291693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毛利能承受的 CPA 上限、預算的 ROAS 門檻。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沒有目標值，所有數字都是中性的。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083296" y="2286000"/>
            <a:ext cx="3465576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83296" y="2286000"/>
            <a:ext cx="64008" cy="2926080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375904" y="2505456"/>
            <a:ext cx="2916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8375904" y="2926080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跟同類比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8375904" y="3328416"/>
            <a:ext cx="291693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同產業、同素材型態、同受眾的合理區間。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參考用，不能當標準答案。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0080" y="5486400"/>
            <a:ext cx="10908792" cy="658368"/>
          </a:xfrm>
          <a:prstGeom prst="roundRect">
            <a:avLst>
              <a:gd name="adj" fmla="val 13889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4400" y="548640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看到數字先問：跟什麼比？沒有答案就先別下結論。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106424" cy="329184"/>
          </a:xfrm>
          <a:prstGeom prst="roundRect">
            <a:avLst>
              <a:gd name="adj" fmla="val 50000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1106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指標地圖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804672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行銷漏斗的四層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813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每一層的數字回答不同的問題，不能混著看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901952"/>
            <a:ext cx="1005840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63550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行銷數據解讀與成效分析基礎｜黃皇賓｜知育行銷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60704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ED4C6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803136"/>
            <a:ext cx="1792896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468880"/>
            <a:ext cx="2035454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633472"/>
            <a:ext cx="20354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曝光層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035808"/>
            <a:ext cx="176113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有多少人看到</a:t>
            </a:r>
            <a:endParaRPr lang="en-US" sz="14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CPM・觸及・頻率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693822" y="3209544"/>
            <a:ext cx="146304" cy="164592"/>
          </a:xfrm>
          <a:prstGeom prst="rightArrow">
            <a:avLst/>
          </a:prstGeom>
          <a:solidFill>
            <a:srgbClr val="8A8177"/>
          </a:solidFill>
          <a:ln w="12700">
            <a:solidFill>
              <a:srgbClr val="8A817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58414" y="2468880"/>
            <a:ext cx="2035454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858414" y="2633472"/>
            <a:ext cx="20354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互動層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2995574" y="3035808"/>
            <a:ext cx="176113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有多少人被吸引</a:t>
            </a:r>
            <a:endParaRPr lang="en-US" sz="14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CTR・CPC・完播率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912157" y="3209544"/>
            <a:ext cx="146304" cy="164592"/>
          </a:xfrm>
          <a:prstGeom prst="rightArrow">
            <a:avLst/>
          </a:prstGeom>
          <a:solidFill>
            <a:srgbClr val="8A8177"/>
          </a:solidFill>
          <a:ln w="12700">
            <a:solidFill>
              <a:srgbClr val="8A817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76749" y="2468880"/>
            <a:ext cx="2035454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76749" y="2633472"/>
            <a:ext cx="20354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到站層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213909" y="3035808"/>
            <a:ext cx="176113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有多少人留下來</a:t>
            </a:r>
            <a:endParaRPr lang="en-US" sz="14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工作階段・跳出率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130491" y="3209544"/>
            <a:ext cx="146304" cy="164592"/>
          </a:xfrm>
          <a:prstGeom prst="rightArrow">
            <a:avLst/>
          </a:prstGeom>
          <a:solidFill>
            <a:srgbClr val="8A8177"/>
          </a:solidFill>
          <a:ln w="12700">
            <a:solidFill>
              <a:srgbClr val="8A817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95083" y="2468880"/>
            <a:ext cx="2035454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295083" y="2633472"/>
            <a:ext cx="20354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轉換層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432243" y="3035808"/>
            <a:ext cx="176113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有多少人付錢</a:t>
            </a:r>
            <a:endParaRPr lang="en-US" sz="14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CVR・CPA・ROAS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348826" y="3209544"/>
            <a:ext cx="146304" cy="164592"/>
          </a:xfrm>
          <a:prstGeom prst="rightArrow">
            <a:avLst/>
          </a:prstGeom>
          <a:solidFill>
            <a:srgbClr val="8A8177"/>
          </a:solidFill>
          <a:ln w="12700">
            <a:solidFill>
              <a:srgbClr val="8A817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13418" y="2468880"/>
            <a:ext cx="2035454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513418" y="2633472"/>
            <a:ext cx="20354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留存層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9650578" y="3035808"/>
            <a:ext cx="176113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有多少人回來</a:t>
            </a:r>
            <a:endParaRPr lang="en-US" sz="14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回購率・LTV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448056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上一層的品質決定下一層的數量，但下一層的問題不一定出在上一層。</a:t>
            </a:r>
            <a:endParaRPr lang="en-US" sz="1800" dirty="0"/>
          </a:p>
          <a:p>
            <a:pPr marL="342900" indent="-342900">
              <a:lnSpc>
                <a:spcPts val="2600"/>
              </a:lnSpc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每一次診斷，先定位問題在哪一層，再談要改什麼。順序反過來就會亂改。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106424" cy="329184"/>
          </a:xfrm>
          <a:prstGeom prst="roundRect">
            <a:avLst>
              <a:gd name="adj" fmla="val 50000"/>
            </a:avLst>
          </a:prstGeom>
          <a:solidFill>
            <a:srgbClr val="E3E7DD"/>
          </a:solidFill>
          <a:ln w="12700">
            <a:solidFill>
              <a:srgbClr val="E3E7D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1106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7A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指標地圖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804672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每一層在回答什麼問題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1005840" cy="54864"/>
          </a:xfrm>
          <a:prstGeom prst="rect">
            <a:avLst/>
          </a:prstGeom>
          <a:solidFill>
            <a:srgbClr val="6E7A61"/>
          </a:solidFill>
          <a:ln w="12700">
            <a:solidFill>
              <a:srgbClr val="6E7A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63550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行銷數據解讀與成效分析基礎｜黃皇賓｜知育行銷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60704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ED4C6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803136"/>
            <a:ext cx="1972186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40280"/>
          <a:ext cx="1090879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651760"/>
                <a:gridCol w="3291840"/>
                <a:gridCol w="3593592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層級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核心問題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主要指標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數字不好時，動哪裡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2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曝光層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有沒有觸及到對的人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CPM、觸及人數、頻率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受眾設定、出價方式、預算分配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互動層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素材有沒有攔住他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CTR、CPC、觀看率、完播率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素材、標題、前三秒、受眾契合度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到站層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到站後有沒有留下來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工作階段、停留時間、跳出率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載入速度、頁面第一屏、訊息一致性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轉換層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他願不願意付錢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CVR、CPA、ROAS、客單價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商品組合、價格、信任元素、結帳流程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留存層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他會不會再回來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回購率、LTV、回購週期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再行銷、會員經營、售後接觸點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106424" cy="329184"/>
          </a:xfrm>
          <a:prstGeom prst="roundRect">
            <a:avLst>
              <a:gd name="adj" fmla="val 50000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1106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指標拆解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804672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曝光層：三個數字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813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廣告有沒有被看到，以及被同一群人看了幾次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901952"/>
            <a:ext cx="1005840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63550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行銷數據解讀與成效分析基礎｜黃皇賓｜知育行銷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60704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ED4C6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803136"/>
            <a:ext cx="2151476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240280"/>
            <a:ext cx="3465576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240280"/>
            <a:ext cx="64008" cy="3017520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32688" y="2459736"/>
            <a:ext cx="2916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CPM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932688" y="2880360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千次曝光成本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3282696"/>
            <a:ext cx="291693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把廣告推給 1,000 次曝光要多少錢。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反映的是競爭程度與素材品質，不是你的操作技術。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節慶檔期會整體上升。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361688" y="2240280"/>
            <a:ext cx="3465576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61688" y="2240280"/>
            <a:ext cx="64008" cy="3017520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54296" y="2459736"/>
            <a:ext cx="2916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觸及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4654296" y="2880360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實際看到的人數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4654296" y="3282696"/>
            <a:ext cx="291693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不重複的人數。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跟曝光次數不同：10,000 次曝光可能只觸及 2,000 人。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083296" y="2240280"/>
            <a:ext cx="3465576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83296" y="2240280"/>
            <a:ext cx="64008" cy="3017520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375904" y="2459736"/>
            <a:ext cx="2916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頻率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8375904" y="2880360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曝光÷觸及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8375904" y="3282696"/>
            <a:ext cx="291693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同一個人平均看幾次。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電商轉換型廣告，超過 3–4 就要留意素材疲乏。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0080" y="5532120"/>
            <a:ext cx="10908792" cy="658368"/>
          </a:xfrm>
          <a:prstGeom prst="roundRect">
            <a:avLst>
              <a:gd name="adj" fmla="val 13889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4400" y="553212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CPM 上升不一定是壞事，要看 CTR 有沒有跟著掉。兩個一起看才有意義。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106424" cy="329184"/>
          </a:xfrm>
          <a:prstGeom prst="roundRect">
            <a:avLst>
              <a:gd name="adj" fmla="val 50000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1106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指標拆解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804672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互動層：素材的體檢報告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1005840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63550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行銷數據解讀與成效分析基礎｜黃皇賓｜知育行銷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60704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ED4C6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803136"/>
            <a:ext cx="2330765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40280"/>
          <a:ext cx="1090879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560320"/>
                <a:gridCol w="3474720"/>
                <a:gridCol w="2130552"/>
              </a:tblGrid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指標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算法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它在告訴你什麼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常見合理區間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2E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CTR（連結點擊率）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連結點擊 ÷ 曝光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素材與受眾的契合度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電商 1%–2.5%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CPC（單次點擊成本）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花費 ÷ 連結點擊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把人帶到網站的效率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依產業差異大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三秒播放率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三秒觀看 ÷ 曝光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前三秒有沒有攔住人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20%–35%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完播率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看完 ÷ 開始播放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內容結構與長度是否合適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短影音 15%–30%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互動率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（讚+留言+分享）÷ 觸及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內容的社群共鳴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參考用，與轉換無直接關係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40080" y="5669280"/>
            <a:ext cx="10908792" cy="658368"/>
          </a:xfrm>
          <a:prstGeom prst="roundRect">
            <a:avLst>
              <a:gd name="adj" fmla="val 13889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14400" y="56692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區間只是參考。你自己帳戶過去三個月的中位數，才是真正的基準線。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106424" cy="329184"/>
          </a:xfrm>
          <a:prstGeom prst="roundRect">
            <a:avLst>
              <a:gd name="adj" fmla="val 50000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1106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指標拆解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804672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轉換層：老闆真正在意的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1005840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63550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行銷數據解讀與成效分析基礎｜黃皇賓｜知育行銷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60704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ED4C6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803136"/>
            <a:ext cx="2510055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240280"/>
            <a:ext cx="2535174" cy="2834640"/>
          </a:xfrm>
          <a:prstGeom prst="roundRect">
            <a:avLst>
              <a:gd name="adj" fmla="val 3607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240280"/>
            <a:ext cx="64008" cy="2834640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2459736"/>
            <a:ext cx="19865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CVR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932688" y="2880360"/>
            <a:ext cx="19865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轉換率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932688" y="3282696"/>
            <a:ext cx="1986534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購買 ÷ 連結點擊。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反映頁面與商品的說服力。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電商常見 1%–3%。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431286" y="2240280"/>
            <a:ext cx="2535174" cy="2834640"/>
          </a:xfrm>
          <a:prstGeom prst="roundRect">
            <a:avLst>
              <a:gd name="adj" fmla="val 3607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31286" y="2240280"/>
            <a:ext cx="64008" cy="2834640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723894" y="2459736"/>
            <a:ext cx="19865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CPA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3723894" y="2880360"/>
            <a:ext cx="19865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單次成果成本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3723894" y="3282696"/>
            <a:ext cx="1986534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花費 ÷ 成果數。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跟毛利比較才知道能不能撐。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22492" y="2240280"/>
            <a:ext cx="2535174" cy="2834640"/>
          </a:xfrm>
          <a:prstGeom prst="roundRect">
            <a:avLst>
              <a:gd name="adj" fmla="val 3607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22492" y="2240280"/>
            <a:ext cx="64008" cy="2834640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15100" y="2459736"/>
            <a:ext cx="19865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ROAS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6515100" y="2880360"/>
            <a:ext cx="19865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廣告投報率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6515100" y="3282696"/>
            <a:ext cx="1986534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廣告收入 ÷ 廣告花費。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要搭配毛利率看，不能只看倍數。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013698" y="2240280"/>
            <a:ext cx="2535174" cy="2834640"/>
          </a:xfrm>
          <a:prstGeom prst="roundRect">
            <a:avLst>
              <a:gd name="adj" fmla="val 3607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13698" y="2240280"/>
            <a:ext cx="64008" cy="2834640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306306" y="2459736"/>
            <a:ext cx="19865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AOV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9306306" y="2880360"/>
            <a:ext cx="19865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平均客單價</a:t>
            </a:r>
            <a:endParaRPr lang="en-US" sz="1900" dirty="0"/>
          </a:p>
        </p:txBody>
      </p:sp>
      <p:sp>
        <p:nvSpPr>
          <p:cNvPr id="29" name="Text 27"/>
          <p:cNvSpPr txBox="1"/>
          <p:nvPr/>
        </p:nvSpPr>
        <p:spPr>
          <a:xfrm>
            <a:off x="9306306" y="3282696"/>
            <a:ext cx="1986534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營收 ÷ 訂單數。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提高它，等於直接降低 CPA 壓力。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0080" y="5486400"/>
            <a:ext cx="10908792" cy="658368"/>
          </a:xfrm>
          <a:prstGeom prst="roundRect">
            <a:avLst>
              <a:gd name="adj" fmla="val 13889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14400" y="548640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四個一起看：CVR 管說服、CPA 管效率、ROAS 管獲利、AOV 管空間。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106424" cy="329184"/>
          </a:xfrm>
          <a:prstGeom prst="roundRect">
            <a:avLst>
              <a:gd name="adj" fmla="val 50000"/>
            </a:avLst>
          </a:prstGeom>
          <a:solidFill>
            <a:srgbClr val="E3E7DD"/>
          </a:solidFill>
          <a:ln w="12700">
            <a:solidFill>
              <a:srgbClr val="E3E7D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1106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7A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指標拆解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804672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留存層：被忽略的獲利區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813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新客成本一直漲，賺不賺錢愈來愈靠第二次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901952"/>
            <a:ext cx="1005840" cy="54864"/>
          </a:xfrm>
          <a:prstGeom prst="rect">
            <a:avLst/>
          </a:prstGeom>
          <a:solidFill>
            <a:srgbClr val="6E7A61"/>
          </a:solidFill>
          <a:ln w="12700">
            <a:solidFill>
              <a:srgbClr val="6E7A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63550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行銷數據解讀與成效分析基礎｜黃皇賓｜知育行銷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60704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ED4C6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803136"/>
            <a:ext cx="2689345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377440"/>
            <a:ext cx="3453384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670048"/>
            <a:ext cx="34533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5–7×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703320"/>
            <a:ext cx="3453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獲取新客 vs 留住舊客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041648"/>
            <a:ext cx="3087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取得一個新客的成本，是留住舊客的數倍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67784" y="2377440"/>
            <a:ext cx="3453384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67784" y="2670048"/>
            <a:ext cx="34533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30–90天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4367784" y="3703320"/>
            <a:ext cx="3453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回購週期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550664" y="4041648"/>
            <a:ext cx="3087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食品、保養品的關鍵觀察窗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95488" y="2377440"/>
            <a:ext cx="3453384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95488" y="2670048"/>
            <a:ext cx="34533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LTV &gt; 3×CAC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8095488" y="3703320"/>
            <a:ext cx="3453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健康門檻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278368" y="4041648"/>
            <a:ext cx="3087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顧客終身價值要能覆蓋獲取成本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502920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只看單次 ROAS，會把所有需要第二次購買才回本的生意判死刑。</a:t>
            </a:r>
            <a:endParaRPr lang="en-US" sz="1800" dirty="0"/>
          </a:p>
          <a:p>
            <a:pPr marL="342900" indent="-342900">
              <a:lnSpc>
                <a:spcPts val="2600"/>
              </a:lnSpc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先算清楚「第幾次購買才開始賺錢」，再回頭決定新客能出到多少錢。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453896" cy="329184"/>
          </a:xfrm>
          <a:prstGeom prst="roundRect">
            <a:avLst>
              <a:gd name="adj" fmla="val 50000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1453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迷思 2／3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804672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按讚多就代表有效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1005840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63550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行銷數據解讀與成效分析基礎｜黃皇賓｜知育行銷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60704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ED4C6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803136"/>
            <a:ext cx="2868634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240280"/>
            <a:ext cx="5321808" cy="3200400"/>
          </a:xfrm>
          <a:prstGeom prst="roundRect">
            <a:avLst>
              <a:gd name="adj" fmla="val 2857"/>
            </a:avLst>
          </a:prstGeom>
          <a:solidFill>
            <a:srgbClr val="F6EAE4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240280"/>
            <a:ext cx="5321808" cy="457200"/>
          </a:xfrm>
          <a:prstGeom prst="rect">
            <a:avLst/>
          </a:prstGeom>
          <a:solidFill>
            <a:srgbClr val="9A5B4A"/>
          </a:solidFill>
          <a:ln w="12700">
            <a:solidFill>
              <a:srgbClr val="9A5B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96112" y="2240280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✕　常見誤解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2862072"/>
            <a:ext cx="477316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貼文兩千個讚，這波一定有效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分享數高，代表受眾很精準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互動好的素材，拿去投廣告一定好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數據好看就先報給老闆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37960" y="2240280"/>
            <a:ext cx="5321808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37960" y="2240280"/>
            <a:ext cx="5321808" cy="457200"/>
          </a:xfrm>
          <a:prstGeom prst="rect">
            <a:avLst/>
          </a:prstGeom>
          <a:solidFill>
            <a:srgbClr val="6E7A61"/>
          </a:solidFill>
          <a:ln w="12700">
            <a:solidFill>
              <a:srgbClr val="6E7A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93992" y="2240280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　正確理解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812280" y="2862072"/>
            <a:ext cx="477316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互動與轉換是兩層，分開看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分享數高代表內容有趣，跟購買意願無關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互動型素材要重剪成轉換型才投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報之前先往下看一層：有沒有帶來行為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5577840"/>
            <a:ext cx="10908792" cy="658368"/>
          </a:xfrm>
          <a:prstGeom prst="roundRect">
            <a:avLst>
              <a:gd name="adj" fmla="val 13889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557784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跨層推論是最常見的誤判。上一層的好表現，不會自動變成下一層的結果。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106424" cy="329184"/>
          </a:xfrm>
          <a:prstGeom prst="roundRect">
            <a:avLst>
              <a:gd name="adj" fmla="val 50000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1106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核心觀念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804672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所有比率，先問分母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813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同一個「轉換率」，分母不同意義完全不同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901952"/>
            <a:ext cx="1005840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63550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行銷數據解讀與成效分析基礎｜黃皇賓｜知育行銷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60704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ED4C6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803136"/>
            <a:ext cx="3047924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86000"/>
          <a:ext cx="1090879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560320"/>
                <a:gridCol w="4114800"/>
                <a:gridCol w="2221992"/>
              </a:tblGrid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寫法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分母是什麼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算出來的意思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誰在用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2E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轉換率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連結點擊數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點進來的人有多少比例買單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廣告優化人員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轉換率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工作階段數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每一次造訪的成交機率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GA4 網站分析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轉換率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觸及人數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看過廣告的人有多少比例買單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品牌端估算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轉換率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加入購物車數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購物車到結帳的完成率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電商營運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640080" y="5623560"/>
            <a:ext cx="10908792" cy="658368"/>
          </a:xfrm>
          <a:prstGeom prst="roundRect">
            <a:avLst>
              <a:gd name="adj" fmla="val 13889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4400" y="562356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開會前先對齊分母，可以省下一半的爭論時間。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E3E7DD"/>
          </a:solidFill>
          <a:ln w="12700">
            <a:solidFill>
              <a:srgbClr val="E3E7D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7A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基準線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804672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自己的基準怎麼訂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813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四個步驟，半小時內就能建出一張基準表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901952"/>
            <a:ext cx="1005840" cy="54864"/>
          </a:xfrm>
          <a:prstGeom prst="rect">
            <a:avLst/>
          </a:prstGeom>
          <a:solidFill>
            <a:srgbClr val="6E7A61"/>
          </a:solidFill>
          <a:ln w="12700">
            <a:solidFill>
              <a:srgbClr val="6E7A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63550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行銷數據解讀與成效分析基礎｜黃皇賓｜知育行銷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60704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ED4C6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803136"/>
            <a:ext cx="3227213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560320"/>
            <a:ext cx="259003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724912"/>
            <a:ext cx="25900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　撈資料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127248"/>
            <a:ext cx="23157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抓過去 90 天</a:t>
            </a:r>
            <a:endParaRPr lang="en-US" sz="14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每週的指標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48406" y="3255264"/>
            <a:ext cx="146304" cy="164592"/>
          </a:xfrm>
          <a:prstGeom prst="rightArrow">
            <a:avLst/>
          </a:prstGeom>
          <a:solidFill>
            <a:srgbClr val="8A8177"/>
          </a:solidFill>
          <a:ln w="12700">
            <a:solidFill>
              <a:srgbClr val="8A817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12998" y="2560320"/>
            <a:ext cx="259003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12998" y="2724912"/>
            <a:ext cx="25900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　取中位數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550158" y="3127248"/>
            <a:ext cx="23157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用中位數，</a:t>
            </a:r>
            <a:endParaRPr lang="en-US" sz="14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不用平均數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21324" y="3255264"/>
            <a:ext cx="146304" cy="164592"/>
          </a:xfrm>
          <a:prstGeom prst="rightArrow">
            <a:avLst/>
          </a:prstGeom>
          <a:solidFill>
            <a:srgbClr val="8A8177"/>
          </a:solidFill>
          <a:ln w="12700">
            <a:solidFill>
              <a:srgbClr val="8A817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85916" y="2560320"/>
            <a:ext cx="259003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85916" y="2724912"/>
            <a:ext cx="25900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　畫區間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323076" y="3127248"/>
            <a:ext cx="23157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上下各抓</a:t>
            </a:r>
            <a:endParaRPr lang="en-US" sz="14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±20% 為正常帶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794242" y="3255264"/>
            <a:ext cx="146304" cy="164592"/>
          </a:xfrm>
          <a:prstGeom prst="rightArrow">
            <a:avLst/>
          </a:prstGeom>
          <a:solidFill>
            <a:srgbClr val="8A8177"/>
          </a:solidFill>
          <a:ln w="12700">
            <a:solidFill>
              <a:srgbClr val="8A817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58834" y="2560320"/>
            <a:ext cx="259003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958834" y="2724912"/>
            <a:ext cx="25900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　設紅線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095994" y="3127248"/>
            <a:ext cx="23157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超出區間</a:t>
            </a:r>
            <a:endParaRPr lang="en-US" sz="14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就啟動檢查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448056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spcAft>
                <a:spcPts val="12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用中位數的理由：一次大檔期或一次失誤，就會把平均數拉到失真。</a:t>
            </a:r>
            <a:endParaRPr lang="en-US" sz="1700" dirty="0"/>
          </a:p>
          <a:p>
            <a:pPr marL="342900" indent="-342900">
              <a:lnSpc>
                <a:spcPts val="2600"/>
              </a:lnSpc>
              <a:spcAft>
                <a:spcPts val="12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每季重算一次。市場競爭與素材成本會移動，去年的基準撐不到今年。</a:t>
            </a:r>
            <a:endParaRPr lang="en-US" sz="1700" dirty="0"/>
          </a:p>
          <a:p>
            <a:pPr marL="342900" indent="-342900">
              <a:lnSpc>
                <a:spcPts val="2600"/>
              </a:lnSpc>
              <a:spcAft>
                <a:spcPts val="12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基準表要分裝置、分廣告目標分開建，手機與桌機的數字不能混在一起看。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案例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804672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兩組廣告，誰比較好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813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同一個客戶、同一週、同樣預算 NT$30,000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901952"/>
            <a:ext cx="1005840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63550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行銷數據解讀與成效分析基礎｜黃皇賓｜知育行銷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60704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ED4C6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803136"/>
            <a:ext cx="3406503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40280"/>
          <a:ext cx="1090879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  <a:gridCol w="3291840"/>
                <a:gridCol w="213055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 組（形象影片）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 組（商品開箱）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誰贏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曝光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412,000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186,000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CTR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0.9%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2.4%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連結點擊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3,708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4,464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CPC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NT$8.1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NT$6.7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購買數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31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44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CPA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NT$968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NT$682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ROAS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1.9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2.8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B45B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640080" y="5760720"/>
            <a:ext cx="10908792" cy="658368"/>
          </a:xfrm>
          <a:prstGeom prst="roundRect">
            <a:avLst>
              <a:gd name="adj" fmla="val 13889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4400" y="576072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組的曝光是 B 組的兩倍多。只看曝光報告，你會做出完全相反的決定。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21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97280" y="13716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18745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把你手上的指標</a:t>
            </a:r>
            <a:endParaRPr lang="en-US" sz="42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放進地圖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3749040"/>
            <a:ext cx="71323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 分鐘，兩人一組</a:t>
            </a:r>
            <a:endParaRPr lang="en-US" sz="1700" dirty="0"/>
          </a:p>
          <a:p>
            <a:pPr marL="342900" indent="-342900">
              <a:lnSpc>
                <a:spcPts val="2600"/>
              </a:lnSpc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DED4C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打開你們公司現在在看的那份報表</a:t>
            </a:r>
            <a:endParaRPr lang="en-US" sz="1700" dirty="0"/>
          </a:p>
          <a:p>
            <a:pPr marL="342900" indent="-342900">
              <a:lnSpc>
                <a:spcPts val="2600"/>
              </a:lnSpc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DED4C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每個欄位標上它屬於漏斗哪一層</a:t>
            </a:r>
            <a:endParaRPr lang="en-US" sz="1700" dirty="0"/>
          </a:p>
          <a:p>
            <a:pPr marL="342900" indent="-342900">
              <a:lnSpc>
                <a:spcPts val="2600"/>
              </a:lnSpc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DED4C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圈出你完全說不出用途的欄位</a:t>
            </a:r>
            <a:endParaRPr lang="en-US" sz="1700" dirty="0"/>
          </a:p>
          <a:p>
            <a:pPr marL="342900" indent="-342900">
              <a:lnSpc>
                <a:spcPts val="2600"/>
              </a:lnSpc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DED4C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找出你缺了哪一層，完全沒在看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595360" y="2011680"/>
            <a:ext cx="2651760" cy="2651760"/>
          </a:xfrm>
          <a:prstGeom prst="roundRect">
            <a:avLst>
              <a:gd name="adj" fmla="val 4828"/>
            </a:avLst>
          </a:prstGeom>
          <a:solidFill>
            <a:srgbClr val="3A352E"/>
          </a:solidFill>
          <a:ln w="25400">
            <a:solidFill>
              <a:srgbClr val="B45B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95360" y="201168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最常缺的</a:t>
            </a:r>
            <a:endParaRPr lang="en-US" sz="2400" dirty="0"/>
          </a:p>
          <a:p>
            <a:pPr algn="ctr" indent="0" marL="0">
              <a:lnSpc>
                <a:spcPts val="3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是留存層</a:t>
            </a:r>
            <a:endParaRPr 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21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97280" y="2011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模組二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260604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平台數據怎麼看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97280" y="3886200"/>
            <a:ext cx="1280160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4160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ED4C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10:40–12:00　｜　Meta、GA4、後台訂單：三方數字對不起來的時候</a:t>
            </a:r>
            <a:endParaRPr lang="en-US" sz="1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106424" cy="329184"/>
          </a:xfrm>
          <a:prstGeom prst="roundRect">
            <a:avLst>
              <a:gd name="adj" fmla="val 50000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1106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804672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三個來源，三種真相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813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它們算的東西本來就不一樣，對不起來很正常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901952"/>
            <a:ext cx="1005840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63550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行銷數據解讀與成效分析基礎｜黃皇賓｜知育行銷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60704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ED4C6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803136"/>
            <a:ext cx="3944372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240280"/>
            <a:ext cx="3465576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240280"/>
            <a:ext cx="64008" cy="3017520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32688" y="2459736"/>
            <a:ext cx="2916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932688" y="2880360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Meta 廣告管理員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3282696"/>
            <a:ext cx="291693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算的是「廣告的功勞」。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以像素回傳為準，含瀏覽後轉換，會高估。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用途：判斷素材與受眾好壞。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361688" y="2240280"/>
            <a:ext cx="3465576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61688" y="2240280"/>
            <a:ext cx="64008" cy="3017520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54296" y="2459736"/>
            <a:ext cx="2916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4654296" y="2880360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GA4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4654296" y="3282696"/>
            <a:ext cx="291693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算的是「網站的行為」。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以最終點擊管道歸因，會低估廣告。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用途：看站內動線與流量結構。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083296" y="2240280"/>
            <a:ext cx="3465576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83296" y="2240280"/>
            <a:ext cx="64008" cy="3017520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375904" y="2459736"/>
            <a:ext cx="2916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8375904" y="2880360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後台訂單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8375904" y="3282696"/>
            <a:ext cx="291693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算的是「真的收到的錢」。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唯一能對帳的數字。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用途：算獲利、發獎金、跟老闆報告。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0080" y="5532120"/>
            <a:ext cx="10908792" cy="658368"/>
          </a:xfrm>
          <a:prstGeom prst="roundRect">
            <a:avLst>
              <a:gd name="adj" fmla="val 13889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4400" y="553212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對帳看後台，看趨勢看平台。不要拿三邊的絕對值互相打架。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106424" cy="329184"/>
          </a:xfrm>
          <a:prstGeom prst="roundRect">
            <a:avLst>
              <a:gd name="adj" fmla="val 50000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1106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關鍵機制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804672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歸因窗：功勞算給誰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813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同一張訂單，在不同設定下會被算給不同人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901952"/>
            <a:ext cx="1005840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63550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行銷數據解讀與成效分析基礎｜黃皇賓｜知育行銷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60704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ED4C6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803136"/>
            <a:ext cx="4123662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514600"/>
            <a:ext cx="259003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679192"/>
            <a:ext cx="25900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0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081528"/>
            <a:ext cx="23157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看到廣告</a:t>
            </a:r>
            <a:endParaRPr lang="en-US" sz="14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沒有點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48406" y="3140964"/>
            <a:ext cx="146304" cy="164592"/>
          </a:xfrm>
          <a:prstGeom prst="rightArrow">
            <a:avLst/>
          </a:prstGeom>
          <a:solidFill>
            <a:srgbClr val="8A8177"/>
          </a:solidFill>
          <a:ln w="12700">
            <a:solidFill>
              <a:srgbClr val="8A817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12998" y="2514600"/>
            <a:ext cx="259003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12998" y="2679192"/>
            <a:ext cx="25900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1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550158" y="3081528"/>
            <a:ext cx="23157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點了廣告</a:t>
            </a:r>
            <a:endParaRPr lang="en-US" sz="14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沒有買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21324" y="3140964"/>
            <a:ext cx="146304" cy="164592"/>
          </a:xfrm>
          <a:prstGeom prst="rightArrow">
            <a:avLst/>
          </a:prstGeom>
          <a:solidFill>
            <a:srgbClr val="8A8177"/>
          </a:solidFill>
          <a:ln w="12700">
            <a:solidFill>
              <a:srgbClr val="8A817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85916" y="2514600"/>
            <a:ext cx="259003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85916" y="2679192"/>
            <a:ext cx="25900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3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323076" y="3081528"/>
            <a:ext cx="23157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搜尋品牌名</a:t>
            </a:r>
            <a:endParaRPr lang="en-US" sz="14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進到官網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794242" y="3140964"/>
            <a:ext cx="146304" cy="164592"/>
          </a:xfrm>
          <a:prstGeom prst="rightArrow">
            <a:avLst/>
          </a:prstGeom>
          <a:solidFill>
            <a:srgbClr val="8A8177"/>
          </a:solidFill>
          <a:ln w="12700">
            <a:solidFill>
              <a:srgbClr val="8A817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58834" y="2514600"/>
            <a:ext cx="2590038" cy="1417320"/>
          </a:xfrm>
          <a:prstGeom prst="roundRect">
            <a:avLst>
              <a:gd name="adj" fmla="val 5161"/>
            </a:avLst>
          </a:prstGeom>
          <a:solidFill>
            <a:srgbClr val="F2DED2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958834" y="2679192"/>
            <a:ext cx="25900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5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095994" y="3081528"/>
            <a:ext cx="23157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看到 EDM</a:t>
            </a:r>
            <a:endParaRPr lang="en-US" sz="14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完成購買</a:t>
            </a:r>
            <a:endParaRPr lang="en-US" sz="14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160520"/>
          <a:ext cx="10908792" cy="914400"/>
        </p:xfrm>
        <a:graphic>
          <a:graphicData uri="http://schemas.openxmlformats.org/drawingml/2006/table">
            <a:tbl>
              <a:tblPr/>
              <a:tblGrid>
                <a:gridCol w="5943600"/>
                <a:gridCol w="496519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歸因設定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這張訂單算給誰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Meta 預設（點擊後 7 天 + 瀏覽後 1 天）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算給 Meta 廣告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GA4 預設（跨管道最終點擊）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算給 Email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最初接觸歸因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算給 Meta 廣告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後台訂單來源欄位（多數只記最後一個 UTM）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算給 Email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106424" cy="329184"/>
          </a:xfrm>
          <a:prstGeom prst="roundRect">
            <a:avLst>
              <a:gd name="adj" fmla="val 50000"/>
            </a:avLst>
          </a:prstGeom>
          <a:solidFill>
            <a:srgbClr val="E3E7DD"/>
          </a:solidFill>
          <a:ln w="12700">
            <a:solidFill>
              <a:srgbClr val="E3E7D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1106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7A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實務設定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804672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歸因窗要怎麼選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1005840" cy="54864"/>
          </a:xfrm>
          <a:prstGeom prst="rect">
            <a:avLst/>
          </a:prstGeom>
          <a:solidFill>
            <a:srgbClr val="6E7A61"/>
          </a:solidFill>
          <a:ln w="12700">
            <a:solidFill>
              <a:srgbClr val="6E7A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63550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行銷數據解讀與成效分析基礎｜黃皇賓｜知育行銷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60704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ED4C6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803136"/>
            <a:ext cx="4302951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240280"/>
            <a:ext cx="5321808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240280"/>
            <a:ext cx="5321808" cy="457200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96112" y="2240280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短決策週期（食品、日用品）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2862072"/>
            <a:ext cx="477316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點擊後 7 天 + 瀏覽後 1 天，維持預設即可</a:t>
            </a:r>
            <a:endParaRPr lang="en-US" sz="17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客單低、當下決定，拉長窗口只會虛增</a:t>
            </a:r>
            <a:endParaRPr lang="en-US" sz="17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回頭比對後台訂單，差距抓在 15% 以內算健康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537960" y="2240280"/>
            <a:ext cx="5321808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37960" y="2240280"/>
            <a:ext cx="5321808" cy="457200"/>
          </a:xfrm>
          <a:prstGeom prst="rect">
            <a:avLst/>
          </a:prstGeom>
          <a:solidFill>
            <a:srgbClr val="6E7A61"/>
          </a:solidFill>
          <a:ln w="12700">
            <a:solidFill>
              <a:srgbClr val="6E7A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93992" y="2240280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長決策週期（課程、高單價、B2B）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812280" y="2862072"/>
            <a:ext cx="477316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點擊後 7 天太短，會嚴重低估廣告貢獻</a:t>
            </a:r>
            <a:endParaRPr lang="en-US" sz="17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同時看「最初接觸」與「最終點擊」兩份數字</a:t>
            </a:r>
            <a:endParaRPr lang="en-US" sz="17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務必搭配問卷或客服詢問「你從哪裡看到我們」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40080" y="5577840"/>
            <a:ext cx="10908792" cy="658368"/>
          </a:xfrm>
          <a:prstGeom prst="roundRect">
            <a:avLst>
              <a:gd name="adj" fmla="val 13889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557784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換歸因設定等於換計分規則。中途換了，就不能拿前後兩段數據直接比。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106424" cy="329184"/>
          </a:xfrm>
          <a:prstGeom prst="roundRect">
            <a:avLst>
              <a:gd name="adj" fmla="val 50000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1106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Meta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804672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廣告管理員的三層結構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813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數字不好時，先確認該動哪一層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901952"/>
            <a:ext cx="1005840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63550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行銷數據解讀與成效分析基礎｜黃皇賓｜知育行銷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60704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ED4C6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803136"/>
            <a:ext cx="4482241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514600"/>
            <a:ext cx="3514344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679192"/>
            <a:ext cx="3514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廣告活動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081528"/>
            <a:ext cx="3240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決定目標與預算</a:t>
            </a:r>
            <a:endParaRPr lang="en-US" sz="14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（流量？轉換？）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172712" y="3209544"/>
            <a:ext cx="146304" cy="164592"/>
          </a:xfrm>
          <a:prstGeom prst="rightArrow">
            <a:avLst/>
          </a:prstGeom>
          <a:solidFill>
            <a:srgbClr val="8A8177"/>
          </a:solidFill>
          <a:ln w="12700">
            <a:solidFill>
              <a:srgbClr val="8A817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37304" y="2514600"/>
            <a:ext cx="3514344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37304" y="2679192"/>
            <a:ext cx="3514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廣告組合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474464" y="3081528"/>
            <a:ext cx="3240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決定受眾、版位</a:t>
            </a:r>
            <a:endParaRPr lang="en-US" sz="14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出價與排程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869936" y="3209544"/>
            <a:ext cx="146304" cy="164592"/>
          </a:xfrm>
          <a:prstGeom prst="rightArrow">
            <a:avLst/>
          </a:prstGeom>
          <a:solidFill>
            <a:srgbClr val="8A8177"/>
          </a:solidFill>
          <a:ln w="12700">
            <a:solidFill>
              <a:srgbClr val="8A817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34528" y="2514600"/>
            <a:ext cx="3514344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34528" y="2679192"/>
            <a:ext cx="3514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廣告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171688" y="3081528"/>
            <a:ext cx="3240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決定素材與文案</a:t>
            </a:r>
            <a:endParaRPr lang="en-US" sz="14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落地頁連結</a:t>
            </a:r>
            <a:endParaRPr lang="en-US" sz="14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343400"/>
          <a:ext cx="10908792" cy="914400"/>
        </p:xfrm>
        <a:graphic>
          <a:graphicData uri="http://schemas.openxmlformats.org/drawingml/2006/table">
            <a:tbl>
              <a:tblPr/>
              <a:tblGrid>
                <a:gridCol w="6400800"/>
                <a:gridCol w="4507992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症狀出現在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對應該動的層級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成果類型根本不對（拿到流量但沒有購買）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廣告活動：目標設定錯了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CPM 異常高、受眾重疊、頻率飆升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廣告組合：受眾與出價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CTR 低、素材疲乏、訊息不一致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廣告：素材與文案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106424" cy="329184"/>
          </a:xfrm>
          <a:prstGeom prst="roundRect">
            <a:avLst>
              <a:gd name="adj" fmla="val 50000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1106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Meta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804672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欄位自訂：只留這九個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813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把預設欄位全部關掉，存成自訂欄位範本，每次開報表直接套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901952"/>
            <a:ext cx="1005840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63550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行銷數據解讀與成效分析基礎｜黃皇賓｜知育行銷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60704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ED4C6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803136"/>
            <a:ext cx="4661531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240280"/>
            <a:ext cx="34899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240280"/>
            <a:ext cx="64008" cy="1143000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32688" y="2459736"/>
            <a:ext cx="2941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花費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932688" y="2862072"/>
            <a:ext cx="294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所有效率計算的分母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49496" y="2240280"/>
            <a:ext cx="34899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9496" y="2240280"/>
            <a:ext cx="64008" cy="1143000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42104" y="2459736"/>
            <a:ext cx="2941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CPM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642104" y="2862072"/>
            <a:ext cx="294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市場競爭溫度計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058912" y="2240280"/>
            <a:ext cx="34899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58912" y="2240280"/>
            <a:ext cx="64008" cy="1143000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51520" y="2459736"/>
            <a:ext cx="2941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頻率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351520" y="2862072"/>
            <a:ext cx="294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素材疲乏預警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3602736"/>
            <a:ext cx="34899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3602736"/>
            <a:ext cx="64008" cy="1143000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32688" y="3822192"/>
            <a:ext cx="2941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連結點擊率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32688" y="4224528"/>
            <a:ext cx="294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素材吸引力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349496" y="3602736"/>
            <a:ext cx="34899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49496" y="3602736"/>
            <a:ext cx="64008" cy="1143000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642104" y="3822192"/>
            <a:ext cx="2941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 CPC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4642104" y="4224528"/>
            <a:ext cx="294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帶人進站的效率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058912" y="3602736"/>
            <a:ext cx="34899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58912" y="3602736"/>
            <a:ext cx="64008" cy="1143000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351520" y="3822192"/>
            <a:ext cx="2941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⑥ 購買次數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8351520" y="4224528"/>
            <a:ext cx="294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真正的成果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40080" y="4965192"/>
            <a:ext cx="34899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" y="4965192"/>
            <a:ext cx="64008" cy="1143000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32688" y="5184648"/>
            <a:ext cx="2941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⑦ 單次購買成本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932688" y="5586984"/>
            <a:ext cx="294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跟毛利比較的對象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349496" y="4965192"/>
            <a:ext cx="34899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349496" y="4965192"/>
            <a:ext cx="64008" cy="1143000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642104" y="5184648"/>
            <a:ext cx="2941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⑧ 購買轉換價值</a:t>
            </a:r>
            <a:endParaRPr lang="en-US" sz="1800" dirty="0"/>
          </a:p>
        </p:txBody>
      </p:sp>
      <p:sp>
        <p:nvSpPr>
          <p:cNvPr id="42" name="Text 40"/>
          <p:cNvSpPr txBox="1"/>
          <p:nvPr/>
        </p:nvSpPr>
        <p:spPr>
          <a:xfrm>
            <a:off x="4642104" y="5586984"/>
            <a:ext cx="294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算 ROAS 的分子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8058912" y="4965192"/>
            <a:ext cx="34899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058912" y="4965192"/>
            <a:ext cx="64008" cy="1143000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351520" y="5184648"/>
            <a:ext cx="2941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⑨ ROAS</a:t>
            </a:r>
            <a:endParaRPr lang="en-US" sz="1800" dirty="0"/>
          </a:p>
        </p:txBody>
      </p:sp>
      <p:sp>
        <p:nvSpPr>
          <p:cNvPr id="46" name="Text 44"/>
          <p:cNvSpPr txBox="1"/>
          <p:nvPr/>
        </p:nvSpPr>
        <p:spPr>
          <a:xfrm>
            <a:off x="8351520" y="5586984"/>
            <a:ext cx="294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獲利的第一道判斷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E3E7DD"/>
          </a:solidFill>
          <a:ln w="12700">
            <a:solidFill>
              <a:srgbClr val="E3E7D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7A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804672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四個報表就夠用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813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其他的等你真的有問題再打開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901952"/>
            <a:ext cx="1005840" cy="54864"/>
          </a:xfrm>
          <a:prstGeom prst="rect">
            <a:avLst/>
          </a:prstGeom>
          <a:solidFill>
            <a:srgbClr val="6E7A61"/>
          </a:solidFill>
          <a:ln w="12700">
            <a:solidFill>
              <a:srgbClr val="6E7A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63550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行銷數據解讀與成效分析基礎｜黃皇賓｜知育行銷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60704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ED4C6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803136"/>
            <a:ext cx="4840820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286000"/>
            <a:ext cx="2535174" cy="2926080"/>
          </a:xfrm>
          <a:prstGeom prst="roundRect">
            <a:avLst>
              <a:gd name="adj" fmla="val 3607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286000"/>
            <a:ext cx="64008" cy="2926080"/>
          </a:xfrm>
          <a:prstGeom prst="rect">
            <a:avLst/>
          </a:prstGeom>
          <a:solidFill>
            <a:srgbClr val="6E7A61"/>
          </a:solidFill>
          <a:ln w="12700">
            <a:solidFill>
              <a:srgbClr val="6E7A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32688" y="2505456"/>
            <a:ext cx="19865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E7A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932688" y="2926080"/>
            <a:ext cx="19865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流量開發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3328416"/>
            <a:ext cx="1986534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流量從哪來、哪個管道帶來的人最會買。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看「工作階段主要管道群組」這一列。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431286" y="2286000"/>
            <a:ext cx="2535174" cy="2926080"/>
          </a:xfrm>
          <a:prstGeom prst="roundRect">
            <a:avLst>
              <a:gd name="adj" fmla="val 3607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31286" y="2286000"/>
            <a:ext cx="64008" cy="2926080"/>
          </a:xfrm>
          <a:prstGeom prst="rect">
            <a:avLst/>
          </a:prstGeom>
          <a:solidFill>
            <a:srgbClr val="6E7A61"/>
          </a:solidFill>
          <a:ln w="12700">
            <a:solidFill>
              <a:srgbClr val="6E7A6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723894" y="2505456"/>
            <a:ext cx="19865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E7A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3723894" y="2926080"/>
            <a:ext cx="19865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頁面和畫面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3723894" y="3328416"/>
            <a:ext cx="1986534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哪幾頁被看最多、哪幾頁把人擋掉。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看平均參與時間與離開率。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22492" y="2286000"/>
            <a:ext cx="2535174" cy="2926080"/>
          </a:xfrm>
          <a:prstGeom prst="roundRect">
            <a:avLst>
              <a:gd name="adj" fmla="val 3607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22492" y="2286000"/>
            <a:ext cx="64008" cy="2926080"/>
          </a:xfrm>
          <a:prstGeom prst="rect">
            <a:avLst/>
          </a:prstGeom>
          <a:solidFill>
            <a:srgbClr val="6E7A61"/>
          </a:solidFill>
          <a:ln w="12700">
            <a:solidFill>
              <a:srgbClr val="6E7A6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15100" y="2505456"/>
            <a:ext cx="19865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E7A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6515100" y="2926080"/>
            <a:ext cx="19865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轉換事件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6515100" y="3328416"/>
            <a:ext cx="1986534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關鍵事件有沒有正常回傳、數量對不對。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設定壞掉最先在這裡看到。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013698" y="2286000"/>
            <a:ext cx="2535174" cy="2926080"/>
          </a:xfrm>
          <a:prstGeom prst="roundRect">
            <a:avLst>
              <a:gd name="adj" fmla="val 3607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13698" y="2286000"/>
            <a:ext cx="64008" cy="2926080"/>
          </a:xfrm>
          <a:prstGeom prst="rect">
            <a:avLst/>
          </a:prstGeom>
          <a:solidFill>
            <a:srgbClr val="6E7A61"/>
          </a:solidFill>
          <a:ln w="12700">
            <a:solidFill>
              <a:srgbClr val="6E7A6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306306" y="2505456"/>
            <a:ext cx="19865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E7A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9306306" y="2926080"/>
            <a:ext cx="19865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探索報表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9306306" y="3328416"/>
            <a:ext cx="1986534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自訂路徑與漏斗，回答具體問題。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用來找「人在第幾步流失」。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0080" y="5532120"/>
            <a:ext cx="10908792" cy="658368"/>
          </a:xfrm>
          <a:prstGeom prst="roundRect">
            <a:avLst>
              <a:gd name="adj" fmla="val 13889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4400" y="553212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GA4 的價值在「站內發生什麼事」，不在「廣告有沒有效」。角色分清楚就不會亂。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E3E7DD"/>
          </a:solidFill>
          <a:ln w="12700">
            <a:solidFill>
              <a:srgbClr val="E3E7D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7A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804672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最少要設的五個事件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813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沒有這五個，後面的分析都是猜的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901952"/>
            <a:ext cx="1005840" cy="54864"/>
          </a:xfrm>
          <a:prstGeom prst="rect">
            <a:avLst/>
          </a:prstGeom>
          <a:solidFill>
            <a:srgbClr val="6E7A61"/>
          </a:solidFill>
          <a:ln w="12700">
            <a:solidFill>
              <a:srgbClr val="6E7A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63550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行銷數據解讀與成效分析基礎｜黃皇賓｜知育行銷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60704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ED4C6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803136"/>
            <a:ext cx="5020110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86000"/>
          <a:ext cx="1090879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926080"/>
                <a:gridCol w="542239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事件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代表的行為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為什麼一定要有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view_item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看了商品頁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判斷哪個商品真的有人有興趣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add_to_cart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加入購物車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分辨「不想買」與「買不下去」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begin_checkout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開始結帳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結帳流程的流失就卡在這一段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purchase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完成購買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所有轉換指標的分子，含金額參數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generate_lead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送出表單／加 LINE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服務業與 B2B 的主要成果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640080" y="5623560"/>
            <a:ext cx="10908792" cy="658368"/>
          </a:xfrm>
          <a:prstGeom prst="roundRect">
            <a:avLst>
              <a:gd name="adj" fmla="val 13889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4400" y="562356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purchase 事件一定要帶金額參數，沒有金額就算不出 ROAS。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E3E7DD"/>
          </a:solidFill>
          <a:ln w="12700">
            <a:solidFill>
              <a:srgbClr val="E3E7D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7A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804672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UTM 命名規則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813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這張表直接抄回去用，全公司統一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901952"/>
            <a:ext cx="1005840" cy="54864"/>
          </a:xfrm>
          <a:prstGeom prst="rect">
            <a:avLst/>
          </a:prstGeom>
          <a:solidFill>
            <a:srgbClr val="6E7A61"/>
          </a:solidFill>
          <a:ln w="12700">
            <a:solidFill>
              <a:srgbClr val="6E7A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63550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行銷數據解讀與成效分析基礎｜黃皇賓｜知育行銷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60704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29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ED4C6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803136"/>
            <a:ext cx="5199399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86000"/>
          <a:ext cx="1090879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377440"/>
                <a:gridCol w="3291840"/>
                <a:gridCol w="313639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參數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填什麼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範例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規則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utm_source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流量來源平台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facebook / ig / line / edm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全小寫，不用中文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utm_medium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流量型態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cpc / social / email / referral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只用這幾個固定值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utm_campaign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活動名稱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2609_autumn_set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年月_主題_型態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utm_content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素材識別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video_a / image_b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A/B 測試靠這欄分辨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utm_term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受眾或關鍵字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lookalike_3 / keyword_x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選填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640080" y="5577840"/>
            <a:ext cx="10908792" cy="658368"/>
          </a:xfrm>
          <a:prstGeom prst="roundRect">
            <a:avLst>
              <a:gd name="adj" fmla="val 13889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4400" y="557784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大小寫不一致，GA4 會當成兩個來源。命名規則寫成一頁 SOP，比任何工具都有效。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453896" cy="329184"/>
          </a:xfrm>
          <a:prstGeom prst="roundRect">
            <a:avLst>
              <a:gd name="adj" fmla="val 50000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1453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迷思 3／3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804672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數字對不起來就是有人做假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1005840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63550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行銷數據解讀與成效分析基礎｜黃皇賓｜知育行銷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60704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ED4C6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803136"/>
            <a:ext cx="5378689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240280"/>
            <a:ext cx="5321808" cy="3200400"/>
          </a:xfrm>
          <a:prstGeom prst="roundRect">
            <a:avLst>
              <a:gd name="adj" fmla="val 2857"/>
            </a:avLst>
          </a:prstGeom>
          <a:solidFill>
            <a:srgbClr val="F6EAE4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240280"/>
            <a:ext cx="5321808" cy="457200"/>
          </a:xfrm>
          <a:prstGeom prst="rect">
            <a:avLst/>
          </a:prstGeom>
          <a:solidFill>
            <a:srgbClr val="9A5B4A"/>
          </a:solidFill>
          <a:ln w="12700">
            <a:solidFill>
              <a:srgbClr val="9A5B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96112" y="2240280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✕　常見誤解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2862072"/>
            <a:ext cx="477316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Meta 說 44 筆，後台只有 31 筆，代理商灌水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GA4 的廣告流量比 Meta 少，像素壞了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三邊數字要完全一樣才叫正常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數字不合就先停廣告觀察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37960" y="2240280"/>
            <a:ext cx="5321808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37960" y="2240280"/>
            <a:ext cx="5321808" cy="457200"/>
          </a:xfrm>
          <a:prstGeom prst="rect">
            <a:avLst/>
          </a:prstGeom>
          <a:solidFill>
            <a:srgbClr val="6E7A61"/>
          </a:solidFill>
          <a:ln w="12700">
            <a:solidFill>
              <a:srgbClr val="6E7A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93992" y="2240280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　正確理解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812280" y="2862072"/>
            <a:ext cx="477316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計算規則不同，差距 15%–30% 正常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GA4 用最終點擊歸因，本來就少算廣告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先對齊：時區、歸因窗、事件定義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先查對齊項目，再談停不停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5577840"/>
            <a:ext cx="10908792" cy="658368"/>
          </a:xfrm>
          <a:prstGeom prst="roundRect">
            <a:avLst>
              <a:gd name="adj" fmla="val 13889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557784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查核順序：時區 → 歸因窗 → 事件定義 → 退款與取消訂單。四步查完通常就找到了。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案例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804672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一筆訂單被算了兩次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813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某餐飲客戶，月報 ROAS 從 4.1 掉回 2.6 的真實過程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901952"/>
            <a:ext cx="1005840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63550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行銷數據解讀與成效分析基礎｜黃皇賓｜知育行銷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60704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ED4C6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803136"/>
            <a:ext cx="5557979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468880"/>
            <a:ext cx="2035454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633472"/>
            <a:ext cx="20354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現象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035808"/>
            <a:ext cx="176113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月報 ROAS 4.1</a:t>
            </a:r>
            <a:endParaRPr lang="en-US" sz="14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財務說對不上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693822" y="3209544"/>
            <a:ext cx="146304" cy="164592"/>
          </a:xfrm>
          <a:prstGeom prst="rightArrow">
            <a:avLst/>
          </a:prstGeom>
          <a:solidFill>
            <a:srgbClr val="8A8177"/>
          </a:solidFill>
          <a:ln w="12700">
            <a:solidFill>
              <a:srgbClr val="8A817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58414" y="2468880"/>
            <a:ext cx="2035454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858414" y="2633472"/>
            <a:ext cx="20354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查核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2995574" y="3035808"/>
            <a:ext cx="176113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感謝頁重整</a:t>
            </a:r>
            <a:endParaRPr lang="en-US" sz="14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會重複觸發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912157" y="3209544"/>
            <a:ext cx="146304" cy="164592"/>
          </a:xfrm>
          <a:prstGeom prst="rightArrow">
            <a:avLst/>
          </a:prstGeom>
          <a:solidFill>
            <a:srgbClr val="8A8177"/>
          </a:solidFill>
          <a:ln w="12700">
            <a:solidFill>
              <a:srgbClr val="8A817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76749" y="2468880"/>
            <a:ext cx="2035454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76749" y="2633472"/>
            <a:ext cx="20354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213909" y="3035808"/>
            <a:ext cx="176113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退款訂單</a:t>
            </a:r>
            <a:endParaRPr lang="en-US" sz="14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沒有被扣除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130491" y="3209544"/>
            <a:ext cx="146304" cy="164592"/>
          </a:xfrm>
          <a:prstGeom prst="rightArrow">
            <a:avLst/>
          </a:prstGeom>
          <a:solidFill>
            <a:srgbClr val="8A8177"/>
          </a:solidFill>
          <a:ln w="12700">
            <a:solidFill>
              <a:srgbClr val="8A817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95083" y="2468880"/>
            <a:ext cx="2035454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295083" y="2633472"/>
            <a:ext cx="20354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修正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432243" y="3035808"/>
            <a:ext cx="176113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加上交易 ID</a:t>
            </a:r>
            <a:endParaRPr lang="en-US" sz="14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去重與扣退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348826" y="3209544"/>
            <a:ext cx="146304" cy="164592"/>
          </a:xfrm>
          <a:prstGeom prst="rightArrow">
            <a:avLst/>
          </a:prstGeom>
          <a:solidFill>
            <a:srgbClr val="8A8177"/>
          </a:solidFill>
          <a:ln w="12700">
            <a:solidFill>
              <a:srgbClr val="8A817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13418" y="2468880"/>
            <a:ext cx="2035454" cy="1645920"/>
          </a:xfrm>
          <a:prstGeom prst="roundRect">
            <a:avLst>
              <a:gd name="adj" fmla="val 4444"/>
            </a:avLst>
          </a:prstGeom>
          <a:solidFill>
            <a:srgbClr val="F2DED2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513418" y="2633472"/>
            <a:ext cx="20354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9650578" y="3035808"/>
            <a:ext cx="176113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 ROAS 2.6</a:t>
            </a:r>
            <a:endParaRPr lang="en-US" sz="14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決策全部重來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448056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在錯的數字上做的每一個優化，都是把資源推往錯的方向。</a:t>
            </a:r>
            <a:endParaRPr lang="en-US" sz="1800" dirty="0"/>
          </a:p>
          <a:p>
            <a:pPr marL="342900" indent="-342900">
              <a:lnSpc>
                <a:spcPts val="2600"/>
              </a:lnSpc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每季做一次數據健檢：像素去重、退款扣除、測試訂單排除，三項固定檢查。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40080" y="5715000"/>
            <a:ext cx="10908792" cy="658368"/>
          </a:xfrm>
          <a:prstGeom prst="roundRect">
            <a:avLst>
              <a:gd name="adj" fmla="val 13889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4400" y="571500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數字的可信度，是所有分析的前提。可信度沒解決，分析做再細都沒意義。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221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97280" y="13716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18745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數據健檢五分鐘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3063240"/>
            <a:ext cx="72237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 分鐘，個人作業，打開手機或筆電</a:t>
            </a:r>
            <a:endParaRPr lang="en-US" sz="1700" dirty="0"/>
          </a:p>
          <a:p>
            <a:pPr marL="342900" indent="-342900">
              <a:lnSpc>
                <a:spcPts val="2600"/>
              </a:lnSpc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DED4C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檢查 GA4 的 purchase 事件有沒有帶金額</a:t>
            </a:r>
            <a:endParaRPr lang="en-US" sz="1700" dirty="0"/>
          </a:p>
          <a:p>
            <a:pPr marL="342900" indent="-342900">
              <a:lnSpc>
                <a:spcPts val="2600"/>
              </a:lnSpc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DED4C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檢查 Meta 的歸因設定目前是哪一種</a:t>
            </a:r>
            <a:endParaRPr lang="en-US" sz="1700" dirty="0"/>
          </a:p>
          <a:p>
            <a:pPr marL="342900" indent="-342900">
              <a:lnSpc>
                <a:spcPts val="2600"/>
              </a:lnSpc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DED4C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拉出上個月：Meta 訂單數 vs 後台訂單數</a:t>
            </a:r>
            <a:endParaRPr lang="en-US" sz="1700" dirty="0"/>
          </a:p>
          <a:p>
            <a:pPr marL="342900" indent="-342900">
              <a:lnSpc>
                <a:spcPts val="2600"/>
              </a:lnSpc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DED4C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算出兩邊差距幾 %，寫在筆記上</a:t>
            </a:r>
            <a:endParaRPr lang="en-US" sz="1700" dirty="0"/>
          </a:p>
          <a:p>
            <a:pPr marL="342900" indent="-342900">
              <a:lnSpc>
                <a:spcPts val="2600"/>
              </a:lnSpc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DED4C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 沒有帳號權限的人，寫下回去要跟誰要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686800" y="2377440"/>
            <a:ext cx="2606040" cy="2103120"/>
          </a:xfrm>
          <a:prstGeom prst="roundRect">
            <a:avLst>
              <a:gd name="adj" fmla="val 6087"/>
            </a:avLst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0" y="2377440"/>
            <a:ext cx="2606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差距</a:t>
            </a:r>
            <a:endParaRPr lang="en-US" sz="2600" dirty="0"/>
          </a:p>
          <a:p>
            <a:pPr algn="ctr" indent="0" marL="0">
              <a:lnSpc>
                <a:spcPts val="36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15–30%</a:t>
            </a:r>
            <a:endParaRPr lang="en-US" sz="2600" dirty="0"/>
          </a:p>
          <a:p>
            <a:pPr algn="ctr" indent="0" marL="0">
              <a:lnSpc>
                <a:spcPts val="36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屬於正常</a:t>
            </a:r>
            <a:endParaRPr lang="en-US" sz="2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221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97280" y="2011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模組三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260604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五大指標優化模型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97280" y="3886200"/>
            <a:ext cx="1280160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4160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ED4C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13:00–14:30　｜　從「看數據」到「找斷點」，今天的核心</a:t>
            </a:r>
            <a:endParaRPr lang="en-US" sz="1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106424" cy="329184"/>
          </a:xfrm>
          <a:prstGeom prst="roundRect">
            <a:avLst>
              <a:gd name="adj" fmla="val 50000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1106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思維轉換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804672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看數據 vs 找斷點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1005840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63550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行銷數據解讀與成效分析基礎｜黃皇賓｜知育行銷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60704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ED4C6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803136"/>
            <a:ext cx="6095848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240280"/>
            <a:ext cx="5321808" cy="3200400"/>
          </a:xfrm>
          <a:prstGeom prst="roundRect">
            <a:avLst>
              <a:gd name="adj" fmla="val 2857"/>
            </a:avLst>
          </a:prstGeom>
          <a:solidFill>
            <a:srgbClr val="F6EAE4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240280"/>
            <a:ext cx="5321808" cy="457200"/>
          </a:xfrm>
          <a:prstGeom prst="rect">
            <a:avLst/>
          </a:prstGeom>
          <a:solidFill>
            <a:srgbClr val="9A5B4A"/>
          </a:solidFill>
          <a:ln w="12700">
            <a:solidFill>
              <a:srgbClr val="9A5B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96112" y="2240280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看數據的人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2862072"/>
            <a:ext cx="477316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把每個指標念一遍：曝光多少、點擊多少</a:t>
            </a:r>
            <a:endParaRPr lang="en-US" sz="17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看到數字變差，全部一起調</a:t>
            </a:r>
            <a:endParaRPr lang="en-US" sz="17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同時換素材、換受眾、改預算</a:t>
            </a:r>
            <a:endParaRPr lang="en-US" sz="17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下週數字變好了，說不出是哪個動作有效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537960" y="2240280"/>
            <a:ext cx="5321808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37960" y="2240280"/>
            <a:ext cx="5321808" cy="457200"/>
          </a:xfrm>
          <a:prstGeom prst="rect">
            <a:avLst/>
          </a:prstGeom>
          <a:solidFill>
            <a:srgbClr val="6E7A61"/>
          </a:solidFill>
          <a:ln w="12700">
            <a:solidFill>
              <a:srgbClr val="6E7A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93992" y="2240280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找斷點的人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812280" y="2862072"/>
            <a:ext cx="477316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先定位：問題卡在漏斗哪一層</a:t>
            </a:r>
            <a:endParaRPr lang="en-US" sz="17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從上往下逐層檢查，第一個異常就是斷點</a:t>
            </a:r>
            <a:endParaRPr lang="en-US" sz="17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一次只改一個變因，其他維持不動</a:t>
            </a:r>
            <a:endParaRPr lang="en-US" sz="17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下週有結論：這個動作有效，記錄下來變成經驗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40080" y="5577840"/>
            <a:ext cx="10908792" cy="658368"/>
          </a:xfrm>
          <a:prstGeom prst="roundRect">
            <a:avLst>
              <a:gd name="adj" fmla="val 13889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557784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優化的目的，是累積可重複的判斷。亂槍打中一次，下次還是從零開始。</a:t>
            </a:r>
            <a:endParaRPr lang="en-US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453896" cy="329184"/>
          </a:xfrm>
          <a:prstGeom prst="roundRect">
            <a:avLst>
              <a:gd name="adj" fmla="val 50000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1453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核心框架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804672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五大指標優化模型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813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由上而下逐層檢查，第一個踩紅線的就是斷點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901952"/>
            <a:ext cx="1005840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63550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行銷數據解讀與成效分析基礎｜黃皇賓｜知育行銷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60704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ED4C6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803136"/>
            <a:ext cx="6275137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286000"/>
            <a:ext cx="2020824" cy="2834640"/>
          </a:xfrm>
          <a:prstGeom prst="roundRect">
            <a:avLst>
              <a:gd name="adj" fmla="val 4525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286000"/>
            <a:ext cx="2020824" cy="109728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606040"/>
            <a:ext cx="2020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CPM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291840"/>
            <a:ext cx="1837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買不買得到人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206240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受眾與競爭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679192" y="3611880"/>
            <a:ext cx="164592" cy="164592"/>
          </a:xfrm>
          <a:prstGeom prst="rightArrow">
            <a:avLst/>
          </a:prstGeom>
          <a:solidFill>
            <a:srgbClr val="8A8177"/>
          </a:solidFill>
          <a:ln w="12700">
            <a:solidFill>
              <a:srgbClr val="8A81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62072" y="2286000"/>
            <a:ext cx="2020824" cy="2834640"/>
          </a:xfrm>
          <a:prstGeom prst="roundRect">
            <a:avLst>
              <a:gd name="adj" fmla="val 4525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62072" y="2286000"/>
            <a:ext cx="2020824" cy="109728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862072" y="2606040"/>
            <a:ext cx="2020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CTR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2953512" y="3291840"/>
            <a:ext cx="1837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攔不攔得住人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2953512" y="4206240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素材與訴求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901184" y="3611880"/>
            <a:ext cx="164592" cy="164592"/>
          </a:xfrm>
          <a:prstGeom prst="rightArrow">
            <a:avLst/>
          </a:prstGeom>
          <a:solidFill>
            <a:srgbClr val="8A8177"/>
          </a:solidFill>
          <a:ln w="12700">
            <a:solidFill>
              <a:srgbClr val="8A817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84064" y="2286000"/>
            <a:ext cx="2020824" cy="2834640"/>
          </a:xfrm>
          <a:prstGeom prst="roundRect">
            <a:avLst>
              <a:gd name="adj" fmla="val 4525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84064" y="2286000"/>
            <a:ext cx="2020824" cy="109728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084064" y="2606040"/>
            <a:ext cx="2020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CVR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5175504" y="3291840"/>
            <a:ext cx="1837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說不說服得了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5175504" y="4206240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頁面與商品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123176" y="3611880"/>
            <a:ext cx="164592" cy="164592"/>
          </a:xfrm>
          <a:prstGeom prst="rightArrow">
            <a:avLst/>
          </a:prstGeom>
          <a:solidFill>
            <a:srgbClr val="8A8177"/>
          </a:solidFill>
          <a:ln w="12700">
            <a:solidFill>
              <a:srgbClr val="8A817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06056" y="2286000"/>
            <a:ext cx="2020824" cy="2834640"/>
          </a:xfrm>
          <a:prstGeom prst="roundRect">
            <a:avLst>
              <a:gd name="adj" fmla="val 4525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06056" y="2286000"/>
            <a:ext cx="2020824" cy="109728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306056" y="2606040"/>
            <a:ext cx="2020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CPA</a:t>
            </a:r>
            <a:endParaRPr lang="en-US" sz="2600" dirty="0"/>
          </a:p>
        </p:txBody>
      </p:sp>
      <p:sp>
        <p:nvSpPr>
          <p:cNvPr id="32" name="Text 30"/>
          <p:cNvSpPr txBox="1"/>
          <p:nvPr/>
        </p:nvSpPr>
        <p:spPr>
          <a:xfrm>
            <a:off x="7397496" y="3291840"/>
            <a:ext cx="1837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划不划得來</a:t>
            </a:r>
            <a:endParaRPr lang="en-US" sz="1900" dirty="0"/>
          </a:p>
        </p:txBody>
      </p:sp>
      <p:sp>
        <p:nvSpPr>
          <p:cNvPr id="33" name="Text 31"/>
          <p:cNvSpPr txBox="1"/>
          <p:nvPr/>
        </p:nvSpPr>
        <p:spPr>
          <a:xfrm>
            <a:off x="7397496" y="4206240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整體效率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9345168" y="3611880"/>
            <a:ext cx="164592" cy="164592"/>
          </a:xfrm>
          <a:prstGeom prst="rightArrow">
            <a:avLst/>
          </a:prstGeom>
          <a:solidFill>
            <a:srgbClr val="8A8177"/>
          </a:solidFill>
          <a:ln w="12700">
            <a:solidFill>
              <a:srgbClr val="8A817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28048" y="2286000"/>
            <a:ext cx="2020824" cy="2834640"/>
          </a:xfrm>
          <a:prstGeom prst="roundRect">
            <a:avLst>
              <a:gd name="adj" fmla="val 4525"/>
            </a:avLst>
          </a:prstGeom>
          <a:solidFill>
            <a:srgbClr val="221F1C"/>
          </a:solidFill>
          <a:ln w="12700">
            <a:solidFill>
              <a:srgbClr val="221F1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528048" y="2286000"/>
            <a:ext cx="2020824" cy="109728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528048" y="2606040"/>
            <a:ext cx="2020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 ROAS</a:t>
            </a:r>
            <a:endParaRPr lang="en-US" sz="2600" dirty="0"/>
          </a:p>
        </p:txBody>
      </p:sp>
      <p:sp>
        <p:nvSpPr>
          <p:cNvPr id="38" name="Text 36"/>
          <p:cNvSpPr txBox="1"/>
          <p:nvPr/>
        </p:nvSpPr>
        <p:spPr>
          <a:xfrm>
            <a:off x="9619488" y="3291840"/>
            <a:ext cx="1837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賺不賺得到錢</a:t>
            </a:r>
            <a:endParaRPr lang="en-US" sz="1900" dirty="0"/>
          </a:p>
        </p:txBody>
      </p:sp>
      <p:sp>
        <p:nvSpPr>
          <p:cNvPr id="39" name="Text 37"/>
          <p:cNvSpPr txBox="1"/>
          <p:nvPr/>
        </p:nvSpPr>
        <p:spPr>
          <a:xfrm>
            <a:off x="9619488" y="4206240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ED4C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獲利能力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40080" y="5349240"/>
            <a:ext cx="10908792" cy="658368"/>
          </a:xfrm>
          <a:prstGeom prst="roundRect">
            <a:avLst>
              <a:gd name="adj" fmla="val 13889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14400" y="534924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順序不能跳。CPM 沒問題才看 CTR，CTR 沒問題才看 CVR，逐層往下。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106424" cy="329184"/>
          </a:xfrm>
          <a:prstGeom prst="roundRect">
            <a:avLst>
              <a:gd name="adj" fmla="val 50000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1106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指標 ①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804672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CPM：買不買得到人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813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它反映市場競爭與系統對你素材的評價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901952"/>
            <a:ext cx="1005840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63550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行銷數據解讀與成效分析基礎｜黃皇賓｜知育行銷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60704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ED4C6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803136"/>
            <a:ext cx="6454427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240280"/>
            <a:ext cx="5321808" cy="3108960"/>
          </a:xfrm>
          <a:prstGeom prst="roundRect">
            <a:avLst>
              <a:gd name="adj" fmla="val 2941"/>
            </a:avLst>
          </a:prstGeom>
          <a:solidFill>
            <a:srgbClr val="F6EAE4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240280"/>
            <a:ext cx="5321808" cy="457200"/>
          </a:xfrm>
          <a:prstGeom prst="rect">
            <a:avLst/>
          </a:prstGeom>
          <a:solidFill>
            <a:srgbClr val="9A5B4A"/>
          </a:solidFill>
          <a:ln w="12700">
            <a:solidFill>
              <a:srgbClr val="9A5B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2240280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CPM 異常上升的原因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2862072"/>
            <a:ext cx="477316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受眾太窄，或多組廣告在搶同一群人</a:t>
            </a:r>
            <a:endParaRPr lang="en-US" sz="17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檔期競爭（雙 11、母親節、年節）</a:t>
            </a:r>
            <a:endParaRPr lang="en-US" sz="17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素材負面回饋高，系統降低推送品質</a:t>
            </a:r>
            <a:endParaRPr lang="en-US" sz="17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版位限制太多，只投限定版位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537960" y="2240280"/>
            <a:ext cx="5321808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37960" y="2240280"/>
            <a:ext cx="5321808" cy="457200"/>
          </a:xfrm>
          <a:prstGeom prst="rect">
            <a:avLst/>
          </a:prstGeom>
          <a:solidFill>
            <a:srgbClr val="6E7A61"/>
          </a:solidFill>
          <a:ln w="12700">
            <a:solidFill>
              <a:srgbClr val="6E7A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93992" y="2240280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能動的四個動作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812280" y="2862072"/>
            <a:ext cx="477316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放寬受眾或開啟廣泛受眾，讓系統去找</a:t>
            </a:r>
            <a:endParaRPr lang="en-US" sz="17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檢查受眾重疊，合併互相搶的廣告組合</a:t>
            </a:r>
            <a:endParaRPr lang="en-US" sz="17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換素材：疲乏的素材 CPM 會持續墊高</a:t>
            </a:r>
            <a:endParaRPr lang="en-US" sz="17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檔期因素就接受它，改算「這個 CPM 下還划不划算」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40080" y="5486400"/>
            <a:ext cx="10908792" cy="658368"/>
          </a:xfrm>
          <a:prstGeom prst="roundRect">
            <a:avLst>
              <a:gd name="adj" fmla="val 13889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548640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CPM 變貴本身不是問題。CPM 變貴而 CTR 沒有跟著上來，才是問題。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106424" cy="329184"/>
          </a:xfrm>
          <a:prstGeom prst="roundRect">
            <a:avLst>
              <a:gd name="adj" fmla="val 50000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1106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指標 ②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804672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CTR：攔不攔得住人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813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 CTR 只有兩種病因：素材錯了，或人找錯了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901952"/>
            <a:ext cx="1005840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63550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行銷數據解讀與成效分析基礎｜黃皇賓｜知育行銷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60704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ED4C6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803136"/>
            <a:ext cx="6633717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86000"/>
          <a:ext cx="1090879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931920"/>
                <a:gridCol w="4416552"/>
              </a:tblGrid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症狀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判斷方法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動作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2E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CTR 全面偏低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換三組完全不同訴求的素材測試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素材問題：重做前三秒與主視覺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CTR 忽高忽低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看不同受眾的 CTR 落差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受眾問題：留下高 CTR 的組合，關掉其他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CTR 一路遞減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看頻率是否超過 3–4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疲乏問題：換素材，不是加預算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CTR 高但沒訂單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往下看 CVR 與落地頁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期待落差：素材承諾與頁面內容不一致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640080" y="5623560"/>
            <a:ext cx="10908792" cy="658368"/>
          </a:xfrm>
          <a:prstGeom prst="roundRect">
            <a:avLst>
              <a:gd name="adj" fmla="val 13889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4400" y="562356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測素材的紀律：一次三組，同一個受眾，跑滿 3–5 天或 50 次以上成果再判讀。</a:t>
            </a:r>
            <a:endParaRPr 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106424" cy="329184"/>
          </a:xfrm>
          <a:prstGeom prst="roundRect">
            <a:avLst>
              <a:gd name="adj" fmla="val 50000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1106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指標 ③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804672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CVR：說不說服得了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813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點擊進來卻不買，問題幾乎都不在廣告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901952"/>
            <a:ext cx="1005840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63550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行銷數據解讀與成效分析基礎｜黃皇賓｜知育行銷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60704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ED4C6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803136"/>
            <a:ext cx="6813006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286000"/>
            <a:ext cx="2535174" cy="2926080"/>
          </a:xfrm>
          <a:prstGeom prst="roundRect">
            <a:avLst>
              <a:gd name="adj" fmla="val 3607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286000"/>
            <a:ext cx="64008" cy="2926080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32688" y="2505456"/>
            <a:ext cx="19865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932688" y="2926080"/>
            <a:ext cx="19865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訊息一致性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3328416"/>
            <a:ext cx="1986534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廣告講「七日組合 599」，頁面第一屏要看得到同一件事。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不一致，人會在三秒內離開。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431286" y="2286000"/>
            <a:ext cx="2535174" cy="2926080"/>
          </a:xfrm>
          <a:prstGeom prst="roundRect">
            <a:avLst>
              <a:gd name="adj" fmla="val 3607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31286" y="2286000"/>
            <a:ext cx="64008" cy="2926080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723894" y="2505456"/>
            <a:ext cx="19865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3723894" y="2926080"/>
            <a:ext cx="19865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載入速度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3723894" y="3328416"/>
            <a:ext cx="1986534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手機超過 3 秒，流失一半以上。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先壓縮圖片，這是投報率最高的修法。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22492" y="2286000"/>
            <a:ext cx="2535174" cy="2926080"/>
          </a:xfrm>
          <a:prstGeom prst="roundRect">
            <a:avLst>
              <a:gd name="adj" fmla="val 3607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22492" y="2286000"/>
            <a:ext cx="64008" cy="2926080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15100" y="2505456"/>
            <a:ext cx="19865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6515100" y="2926080"/>
            <a:ext cx="19865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信任元素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6515100" y="3328416"/>
            <a:ext cx="1986534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評價、檢驗報告、退換貨說明、真人照片。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傳統產業最缺的是這一塊。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013698" y="2286000"/>
            <a:ext cx="2535174" cy="2926080"/>
          </a:xfrm>
          <a:prstGeom prst="roundRect">
            <a:avLst>
              <a:gd name="adj" fmla="val 3607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13698" y="2286000"/>
            <a:ext cx="64008" cy="2926080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306306" y="2505456"/>
            <a:ext cx="19865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9306306" y="2926080"/>
            <a:ext cx="19865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結帳阻力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9306306" y="3328416"/>
            <a:ext cx="1986534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必填欄位太多、沒有常用支付、運費最後才出現。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每多一步，流失一段。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0080" y="5532120"/>
            <a:ext cx="10908792" cy="658368"/>
          </a:xfrm>
          <a:prstGeom prst="roundRect">
            <a:avLst>
              <a:gd name="adj" fmla="val 13889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4400" y="553212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CVR 低的時候去改廣告素材，是把錢花在錯的地方。先修頁面。</a:t>
            </a:r>
            <a:endParaRPr lang="en-US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106424" cy="329184"/>
          </a:xfrm>
          <a:prstGeom prst="roundRect">
            <a:avLst>
              <a:gd name="adj" fmla="val 50000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1106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指標 ④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804672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CPA：划不划得來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813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先算出你的上限，再回頭看廣告貴不貴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901952"/>
            <a:ext cx="1005840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63550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行銷數據解讀與成效分析基礎｜黃皇賓｜知育行銷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60704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39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ED4C6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803136"/>
            <a:ext cx="6992296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286000"/>
            <a:ext cx="10908792" cy="1371600"/>
          </a:xfrm>
          <a:prstGeom prst="roundRect">
            <a:avLst>
              <a:gd name="adj" fmla="val 6667"/>
            </a:avLst>
          </a:prstGeom>
          <a:solidFill>
            <a:srgbClr val="221F1C"/>
          </a:solidFill>
          <a:ln w="12700">
            <a:solidFill>
              <a:srgbClr val="221F1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286000"/>
            <a:ext cx="109087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CPA 上限 ＝ 客單價 × 毛利率 × 願意投入的獲客比例</a:t>
            </a:r>
            <a:endParaRPr lang="en-US" sz="30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840480"/>
          <a:ext cx="10908792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3566160"/>
                <a:gridCol w="359359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 客戶（食品）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 客戶（美語補習）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2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平均客單價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NT$980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NT$36,000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毛利率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45%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70%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毛利金額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NT$441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NT$25,200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願意投入比例（首購）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60%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30%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CPA 上限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B45B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NT$265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B45B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NT$7,560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106424" cy="329184"/>
          </a:xfrm>
          <a:prstGeom prst="roundRect">
            <a:avLst>
              <a:gd name="adj" fmla="val 50000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1106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指標 ⑤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804672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ROAS：賺不賺得到錢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813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倍數本身沒有意義，要跟你的損益兩平點比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901952"/>
            <a:ext cx="1005840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63550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行銷數據解讀與成效分析基礎｜黃皇賓｜知育行銷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60704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ED4C6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803136"/>
            <a:ext cx="7171585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19456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194560"/>
            <a:ext cx="10908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損益兩平 ROAS ＝ 1 ÷ 毛利率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640080" y="3291840"/>
            <a:ext cx="3453384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584448"/>
            <a:ext cx="34533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2.2</a:t>
            </a:r>
            <a:endParaRPr lang="en-US" sz="46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617720"/>
            <a:ext cx="3453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毛利率 45%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956048"/>
            <a:ext cx="3087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ROAS 低於 2.2 就在虧錢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67784" y="3291840"/>
            <a:ext cx="3453384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367784" y="3584448"/>
            <a:ext cx="34533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1.4</a:t>
            </a:r>
            <a:endParaRPr lang="en-US" sz="4600" dirty="0"/>
          </a:p>
        </p:txBody>
      </p:sp>
      <p:sp>
        <p:nvSpPr>
          <p:cNvPr id="19" name="Text 17"/>
          <p:cNvSpPr txBox="1"/>
          <p:nvPr/>
        </p:nvSpPr>
        <p:spPr>
          <a:xfrm>
            <a:off x="4367784" y="4617720"/>
            <a:ext cx="3453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毛利率 70%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4550664" y="4956048"/>
            <a:ext cx="3087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高毛利容忍度高很多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095488" y="3291840"/>
            <a:ext cx="3453384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95488" y="3584448"/>
            <a:ext cx="34533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3.3</a:t>
            </a:r>
            <a:endParaRPr lang="en-US" sz="4600" dirty="0"/>
          </a:p>
        </p:txBody>
      </p:sp>
      <p:sp>
        <p:nvSpPr>
          <p:cNvPr id="23" name="Text 21"/>
          <p:cNvSpPr txBox="1"/>
          <p:nvPr/>
        </p:nvSpPr>
        <p:spPr>
          <a:xfrm>
            <a:off x="8095488" y="4617720"/>
            <a:ext cx="3453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毛利率 30%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8278368" y="4956048"/>
            <a:ext cx="3087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低毛利要求嚴格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5669280"/>
            <a:ext cx="10908792" cy="658368"/>
          </a:xfrm>
          <a:prstGeom prst="roundRect">
            <a:avLst>
              <a:gd name="adj" fmla="val 13889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4400" y="56692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同樣 ROAS 2.5，有人在賺錢，有人在虧錢。先算自己的門檻，再看數字。</a:t>
            </a:r>
            <a:endParaRPr lang="en-US" sz="1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主工具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804672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斷點診斷表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813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上課後貼在辦公桌上，每次看報表就對一次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901952"/>
            <a:ext cx="1005840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63550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行銷數據解讀與成效分析基礎｜黃皇賓｜知育行銷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60704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ED4C6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803136"/>
            <a:ext cx="7350875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86000"/>
          <a:ext cx="1090879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920240"/>
                <a:gridCol w="3200400"/>
                <a:gridCol w="3410712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症狀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斷點在哪一層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最可能的原因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第一個該做的動作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2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CPM 高、CTR 也低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曝光層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受眾錯或素材沒吸引力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換三組新訴求素材測試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CPM 正常、CTR 低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互動層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素材與受眾不契合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同受眾換素材，一次一組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CTR 高、CVR 低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到站／轉換層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落地頁與廣告承諾不一致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修頁面第一屏，不要動廣告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CVR 正常、CPA 太高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轉換層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客單價太低或流量成本高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做組合包提高客單，或換受眾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CPA 正常、ROAS 低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獲利層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毛利結構或折扣過深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檢查活動折扣與運費補貼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全部正常但賺不到錢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留存層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只做首購，沒有回購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建再行銷與會員回購機制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106424" cy="329184"/>
          </a:xfrm>
          <a:prstGeom prst="roundRect">
            <a:avLst>
              <a:gd name="adj" fmla="val 50000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1106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804672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CTR 高但 CVR 低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813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最常見、也最常被改錯的情況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901952"/>
            <a:ext cx="1005840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63550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行銷數據解讀與成效分析基礎｜黃皇賓｜知育行銷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60704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ED4C6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803136"/>
            <a:ext cx="7530165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240280"/>
            <a:ext cx="3453384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532888"/>
            <a:ext cx="34533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3.8%</a:t>
            </a:r>
            <a:endParaRPr lang="en-US" sz="4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566160"/>
            <a:ext cx="3453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CTR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904488"/>
            <a:ext cx="3087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素材很吸引人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67784" y="2240280"/>
            <a:ext cx="3453384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67784" y="2532888"/>
            <a:ext cx="34533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0.4%</a:t>
            </a:r>
            <a:endParaRPr lang="en-US" sz="4600" dirty="0"/>
          </a:p>
        </p:txBody>
      </p:sp>
      <p:sp>
        <p:nvSpPr>
          <p:cNvPr id="17" name="Text 15"/>
          <p:cNvSpPr txBox="1"/>
          <p:nvPr/>
        </p:nvSpPr>
        <p:spPr>
          <a:xfrm>
            <a:off x="4367784" y="3566160"/>
            <a:ext cx="3453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CVR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550664" y="3904488"/>
            <a:ext cx="3087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進來的人幾乎都走了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95488" y="2240280"/>
            <a:ext cx="3453384" cy="2286000"/>
          </a:xfrm>
          <a:prstGeom prst="roundRect">
            <a:avLst>
              <a:gd name="adj" fmla="val 4000"/>
            </a:avLst>
          </a:prstGeom>
          <a:solidFill>
            <a:srgbClr val="221F1C"/>
          </a:solidFill>
          <a:ln w="12700">
            <a:solidFill>
              <a:srgbClr val="221F1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95488" y="2532888"/>
            <a:ext cx="34533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NT$1,240</a:t>
            </a:r>
            <a:endParaRPr lang="en-US" sz="4600" dirty="0"/>
          </a:p>
        </p:txBody>
      </p:sp>
      <p:sp>
        <p:nvSpPr>
          <p:cNvPr id="21" name="Text 19"/>
          <p:cNvSpPr txBox="1"/>
          <p:nvPr/>
        </p:nvSpPr>
        <p:spPr>
          <a:xfrm>
            <a:off x="8095488" y="3566160"/>
            <a:ext cx="3453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CPA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278368" y="3904488"/>
            <a:ext cx="3087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ED4C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遠高於上限 NT$420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4663440"/>
            <a:ext cx="5321808" cy="1645920"/>
          </a:xfrm>
          <a:prstGeom prst="roundRect">
            <a:avLst>
              <a:gd name="adj" fmla="val 5556"/>
            </a:avLst>
          </a:prstGeom>
          <a:solidFill>
            <a:srgbClr val="F6EAE4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4663440"/>
            <a:ext cx="5321808" cy="457200"/>
          </a:xfrm>
          <a:prstGeom prst="rect">
            <a:avLst/>
          </a:prstGeom>
          <a:solidFill>
            <a:srgbClr val="9A5B4A"/>
          </a:solidFill>
          <a:ln w="12700">
            <a:solidFill>
              <a:srgbClr val="9A5B4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96112" y="4663440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直覺會做的（錯）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14400" y="5285232"/>
            <a:ext cx="47731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換素材再試一次、加預算衝量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換一批新受眾重跑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537960" y="4663440"/>
            <a:ext cx="5321808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37960" y="4663440"/>
            <a:ext cx="5321808" cy="457200"/>
          </a:xfrm>
          <a:prstGeom prst="rect">
            <a:avLst/>
          </a:prstGeom>
          <a:solidFill>
            <a:srgbClr val="6E7A61"/>
          </a:solidFill>
          <a:ln w="12700">
            <a:solidFill>
              <a:srgbClr val="6E7A6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793992" y="4663440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應該做的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6812280" y="5285232"/>
            <a:ext cx="47731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用手機打開落地頁看第一屏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確認優惠找得到，並檢查速度</a:t>
            </a:r>
            <a:endParaRPr lang="en-US" sz="1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106424" cy="329184"/>
          </a:xfrm>
          <a:prstGeom prst="roundRect">
            <a:avLst>
              <a:gd name="adj" fmla="val 50000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1106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B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804672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CPM 一路往上爬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813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兩週內從 180 漲到 310，CTR 同步下滑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901952"/>
            <a:ext cx="1005840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63550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行銷數據解讀與成效分析基礎｜黃皇賓｜知育行銷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60704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ED4C6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803136"/>
            <a:ext cx="7709454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468880"/>
            <a:ext cx="3514344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633472"/>
            <a:ext cx="3514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1 週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035808"/>
            <a:ext cx="32400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CPM 180</a:t>
            </a:r>
            <a:endParaRPr lang="en-US" sz="14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CTR 2.6%</a:t>
            </a:r>
            <a:endParaRPr lang="en-US" sz="14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頻率 1.8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172712" y="3209544"/>
            <a:ext cx="146304" cy="164592"/>
          </a:xfrm>
          <a:prstGeom prst="rightArrow">
            <a:avLst/>
          </a:prstGeom>
          <a:solidFill>
            <a:srgbClr val="8A8177"/>
          </a:solidFill>
          <a:ln w="12700">
            <a:solidFill>
              <a:srgbClr val="8A817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37304" y="2468880"/>
            <a:ext cx="3514344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37304" y="2633472"/>
            <a:ext cx="3514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2 週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474464" y="3035808"/>
            <a:ext cx="32400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CPM 230</a:t>
            </a:r>
            <a:endParaRPr lang="en-US" sz="14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CTR 2.0%</a:t>
            </a:r>
            <a:endParaRPr lang="en-US" sz="14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頻率 3.1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869936" y="3209544"/>
            <a:ext cx="146304" cy="164592"/>
          </a:xfrm>
          <a:prstGeom prst="rightArrow">
            <a:avLst/>
          </a:prstGeom>
          <a:solidFill>
            <a:srgbClr val="8A8177"/>
          </a:solidFill>
          <a:ln w="12700">
            <a:solidFill>
              <a:srgbClr val="8A817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34528" y="2468880"/>
            <a:ext cx="3514344" cy="1645920"/>
          </a:xfrm>
          <a:prstGeom prst="roundRect">
            <a:avLst>
              <a:gd name="adj" fmla="val 4444"/>
            </a:avLst>
          </a:prstGeom>
          <a:solidFill>
            <a:srgbClr val="F2DED2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34528" y="2633472"/>
            <a:ext cx="3514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3 週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171688" y="3035808"/>
            <a:ext cx="32400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CPM 310</a:t>
            </a:r>
            <a:endParaRPr lang="en-US" sz="14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CTR 1.2%</a:t>
            </a:r>
            <a:endParaRPr lang="en-US" sz="14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頻率 4.6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4389120"/>
            <a:ext cx="1078992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spcAft>
                <a:spcPts val="12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三個數字同向惡化，指向同一個原因：素材疲乏加上受眾被打到爛。</a:t>
            </a:r>
            <a:endParaRPr lang="en-US" sz="1700" dirty="0"/>
          </a:p>
          <a:p>
            <a:pPr marL="342900" indent="-342900">
              <a:lnSpc>
                <a:spcPts val="2600"/>
              </a:lnSpc>
              <a:spcAft>
                <a:spcPts val="12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這時候加預算會讓惡化加速，系統只能更頻繁地推給同一群人。</a:t>
            </a:r>
            <a:endParaRPr lang="en-US" sz="1700" dirty="0"/>
          </a:p>
          <a:p>
            <a:pPr marL="342900" indent="-342900">
              <a:lnSpc>
                <a:spcPts val="2600"/>
              </a:lnSpc>
              <a:spcAft>
                <a:spcPts val="12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正確動作：換素材（不是換文案），同時擴大受眾或排除近 30 天已購買者。</a:t>
            </a:r>
            <a:endParaRPr lang="en-US" sz="1700" dirty="0"/>
          </a:p>
          <a:p>
            <a:pPr marL="342900" indent="-342900">
              <a:lnSpc>
                <a:spcPts val="2600"/>
              </a:lnSpc>
              <a:spcAft>
                <a:spcPts val="12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預防做法：每兩週準備一組新素材輪替，不要等數字掉了才開始想。</a:t>
            </a:r>
            <a:endParaRPr lang="en-US" sz="17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106424" cy="329184"/>
          </a:xfrm>
          <a:prstGeom prst="roundRect">
            <a:avLst>
              <a:gd name="adj" fmla="val 50000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1106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C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804672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ROAS 忽高忽低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813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每天看數字，每天做相反的決定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901952"/>
            <a:ext cx="1005840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63550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行銷數據解讀與成效分析基礎｜黃皇賓｜知育行銷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60704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ED4C6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803136"/>
            <a:ext cx="7888744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240280"/>
            <a:ext cx="5321808" cy="2926080"/>
          </a:xfrm>
          <a:prstGeom prst="roundRect">
            <a:avLst>
              <a:gd name="adj" fmla="val 3125"/>
            </a:avLst>
          </a:prstGeom>
          <a:solidFill>
            <a:srgbClr val="F6EAE4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240280"/>
            <a:ext cx="5321808" cy="457200"/>
          </a:xfrm>
          <a:prstGeom prst="rect">
            <a:avLst/>
          </a:prstGeom>
          <a:solidFill>
            <a:srgbClr val="9A5B4A"/>
          </a:solidFill>
          <a:ln w="12700">
            <a:solidFill>
              <a:srgbClr val="9A5B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2240280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看起來的樣子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2862072"/>
            <a:ext cx="4773168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週一 ROAS 4.2，很興奮，加預算</a:t>
            </a:r>
            <a:endParaRPr lang="en-US" sz="17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週二 ROAS 0.8，很緊張，砍預算</a:t>
            </a:r>
            <a:endParaRPr lang="en-US" sz="17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週三 ROAS 3.1，又加回來</a:t>
            </a:r>
            <a:endParaRPr lang="en-US" sz="17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一週下來動了五次，成效更不穩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537960" y="2240280"/>
            <a:ext cx="5321808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37960" y="2240280"/>
            <a:ext cx="5321808" cy="457200"/>
          </a:xfrm>
          <a:prstGeom prst="rect">
            <a:avLst/>
          </a:prstGeom>
          <a:solidFill>
            <a:srgbClr val="6E7A61"/>
          </a:solidFill>
          <a:ln w="12700">
            <a:solidFill>
              <a:srgbClr val="6E7A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93992" y="2240280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實際的原因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812280" y="2862072"/>
            <a:ext cx="4773168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單日成果數不足 20 筆，波動本來就大</a:t>
            </a:r>
            <a:endParaRPr lang="en-US" sz="17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頻繁改預算會讓廣告重新進入學習期</a:t>
            </a:r>
            <a:endParaRPr lang="en-US" sz="17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學習期的成效必然不穩，形成惡性循環</a:t>
            </a:r>
            <a:endParaRPr lang="en-US" sz="17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判讀單位要用「週」，不要用「天」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40080" y="5349240"/>
            <a:ext cx="10908792" cy="658368"/>
          </a:xfrm>
          <a:prstGeom prst="roundRect">
            <a:avLst>
              <a:gd name="adj" fmla="val 13889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534924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判讀規則：成果數未滿 50 筆，或未滿 3 天，先不做任何調整。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60350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預算調整幅度單次不超過 20%，讓系統有機會收斂。</a:t>
            </a:r>
            <a:endParaRPr lang="en-US" sz="16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106424" cy="329184"/>
          </a:xfrm>
          <a:prstGeom prst="roundRect">
            <a:avLst>
              <a:gd name="adj" fmla="val 50000"/>
            </a:avLst>
          </a:prstGeom>
          <a:solidFill>
            <a:srgbClr val="E3E7DD"/>
          </a:solidFill>
          <a:ln w="12700">
            <a:solidFill>
              <a:srgbClr val="E3E7D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1106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7A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決策規則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804672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什麼時候該關掉廣告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813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先訂規則，才不會憑感覺與情緒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901952"/>
            <a:ext cx="1005840" cy="54864"/>
          </a:xfrm>
          <a:prstGeom prst="rect">
            <a:avLst/>
          </a:prstGeom>
          <a:solidFill>
            <a:srgbClr val="6E7A61"/>
          </a:solidFill>
          <a:ln w="12700">
            <a:solidFill>
              <a:srgbClr val="6E7A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63550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行銷數據解讀與成效分析基礎｜黃皇賓｜知育行銷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60704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ED4C6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803136"/>
            <a:ext cx="8068034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286000"/>
            <a:ext cx="3465576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286000"/>
            <a:ext cx="64008" cy="2834640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32688" y="2505456"/>
            <a:ext cx="2916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 1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932688" y="2926080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三倍 CPA 法則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3328416"/>
            <a:ext cx="2916936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花費累積到 CPA 上限的三倍，仍然沒有任何一筆成果 → 關掉。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例：上限 400，花到 1,200 沒訂單就停。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361688" y="2286000"/>
            <a:ext cx="3465576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61688" y="2286000"/>
            <a:ext cx="64008" cy="2834640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54296" y="2505456"/>
            <a:ext cx="2916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 2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4654296" y="2926080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連續兩週低於門檻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4654296" y="3328416"/>
            <a:ext cx="2916936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ROAS 連續兩週低於損益兩平點 → 停止並重新規劃，不要只調預算。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083296" y="2286000"/>
            <a:ext cx="3465576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83296" y="2286000"/>
            <a:ext cx="64008" cy="2834640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375904" y="2505456"/>
            <a:ext cx="2916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 3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8375904" y="2926080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頻率超標且 CTR 腰斬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8375904" y="3328416"/>
            <a:ext cx="2916936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頻率 &gt; 4 且 CTR 低於基準一半 → 素材下架，換新的上。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0080" y="5486400"/>
            <a:ext cx="10908792" cy="658368"/>
          </a:xfrm>
          <a:prstGeom prst="roundRect">
            <a:avLst>
              <a:gd name="adj" fmla="val 13889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4400" y="548640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規則寫下來，貼在牆上。決策速度會變快，爭論會變少。</a:t>
            </a:r>
            <a:endParaRPr lang="en-US" sz="1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紀律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804672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一次只改一個變因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1005840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63550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行銷數據解讀與成效分析基礎｜黃皇賓｜知育行銷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60704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ED4C6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803136"/>
            <a:ext cx="8247323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86000"/>
          <a:ext cx="10908792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291840"/>
                <a:gridCol w="3776472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同時改的事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結果數字變好了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你學到什麼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2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換素材 + 換受眾 + 加預算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CPA 從 800 降到 520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什麼都沒學到，下次還是要重猜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只換素材，其他不動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CPA 從 800 降到 520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這組素材有效，可以延伸做三支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只換受眾，其他不動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CPA 沒有改善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受眾不是問題，排除一個可能性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685800" y="475488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spcAft>
                <a:spcPts val="12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測試的價值在於「排除錯的可能」，跟找到對的答案一樣重要。</a:t>
            </a:r>
            <a:endParaRPr lang="en-US" sz="1700" dirty="0"/>
          </a:p>
          <a:p>
            <a:pPr marL="342900" indent="-342900">
              <a:lnSpc>
                <a:spcPts val="2600"/>
              </a:lnSpc>
              <a:spcAft>
                <a:spcPts val="12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每一次測試都留紀錄：改了什麼、跑幾天、結果如何。三個月後這份紀錄就是公司的資產。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40080" y="5806440"/>
            <a:ext cx="10908792" cy="658368"/>
          </a:xfrm>
          <a:prstGeom prst="roundRect">
            <a:avLst>
              <a:gd name="adj" fmla="val 13889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4400" y="580644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沒有紀錄的優化，等於每個月重新開始。</a:t>
            </a:r>
            <a:endParaRPr lang="en-US" sz="1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453896" cy="329184"/>
          </a:xfrm>
          <a:prstGeom prst="roundRect">
            <a:avLst>
              <a:gd name="adj" fmla="val 50000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1453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案例演練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804672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三組廣告的體檢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813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同一個客戶、同一週、總預算 NT$60,000　｜　CPA 上限 NT$420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901952"/>
            <a:ext cx="1005840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63550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行銷數據解讀與成效分析基礎｜黃皇賓｜知育行銷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60704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ED4C6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803136"/>
            <a:ext cx="8426613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40280"/>
          <a:ext cx="1090879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743200"/>
                <a:gridCol w="2743200"/>
                <a:gridCol w="2770632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 組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 組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 組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2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花費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NT$24,000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NT$21,000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NT$15,000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CPM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NT$195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NT$188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NT$342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CTR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2.8%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1.1%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2.4%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頻率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2.1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1.9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4.8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CVR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0.5%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2.2%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1.8%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購買數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17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25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19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CPA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NT$1,412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NT$840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NT$789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ROAS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0.9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2.4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2.6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640080" y="5760720"/>
            <a:ext cx="10908792" cy="658368"/>
          </a:xfrm>
          <a:prstGeom prst="roundRect">
            <a:avLst>
              <a:gd name="adj" fmla="val 13889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4400" y="576072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問題：三組各自的斷點在哪一層？下週的預算該怎麼分？請寫出三個動作。</a:t>
            </a:r>
            <a:endParaRPr lang="en-US" sz="1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221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97280" y="12801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17830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用診斷表寫出三個動作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2971800"/>
            <a:ext cx="75895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 分鐘，分組討論 + 上台 2 分鐘</a:t>
            </a:r>
            <a:endParaRPr lang="en-US" sz="1700" dirty="0"/>
          </a:p>
          <a:p>
            <a:pPr marL="342900" indent="-342900">
              <a:lnSpc>
                <a:spcPts val="2600"/>
              </a:lnSpc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DED4C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每組拿到一份不同的帳戶數據（講師發放）</a:t>
            </a:r>
            <a:endParaRPr lang="en-US" sz="1700" dirty="0"/>
          </a:p>
          <a:p>
            <a:pPr marL="342900" indent="-342900">
              <a:lnSpc>
                <a:spcPts val="2600"/>
              </a:lnSpc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DED4C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第一步：用五大指標由上而下找出斷點在哪一層</a:t>
            </a:r>
            <a:endParaRPr lang="en-US" sz="1700" dirty="0"/>
          </a:p>
          <a:p>
            <a:pPr marL="342900" indent="-342900">
              <a:lnSpc>
                <a:spcPts val="2600"/>
              </a:lnSpc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DED4C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第二步：對照診斷表，寫出「第一個該做的動作」</a:t>
            </a:r>
            <a:endParaRPr lang="en-US" sz="1700" dirty="0"/>
          </a:p>
          <a:p>
            <a:pPr marL="342900" indent="-342900">
              <a:lnSpc>
                <a:spcPts val="2600"/>
              </a:lnSpc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DED4C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第三步：說明你預期哪一個數字會改變、改變多少</a:t>
            </a:r>
            <a:endParaRPr lang="en-US" sz="1700" dirty="0"/>
          </a:p>
          <a:p>
            <a:pPr marL="342900" indent="-342900">
              <a:lnSpc>
                <a:spcPts val="2600"/>
              </a:lnSpc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DED4C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上台時只講三句話：斷點在哪、要做什麼、預期什麼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961120" y="2377440"/>
            <a:ext cx="2377440" cy="2377440"/>
          </a:xfrm>
          <a:prstGeom prst="roundRect">
            <a:avLst>
              <a:gd name="adj" fmla="val 5385"/>
            </a:avLst>
          </a:prstGeom>
          <a:solidFill>
            <a:srgbClr val="3A352E"/>
          </a:solidFill>
          <a:ln w="25400">
            <a:solidFill>
              <a:srgbClr val="B45B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0" y="2377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預期</a:t>
            </a:r>
            <a:endParaRPr lang="en-US" sz="2000" dirty="0"/>
          </a:p>
          <a:p>
            <a:pPr algn="ctr"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是關鍵</a:t>
            </a:r>
            <a:endParaRPr lang="en-US" sz="2000" dirty="0"/>
          </a:p>
          <a:p>
            <a:pPr algn="ctr"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沒有預期</a:t>
            </a:r>
            <a:endParaRPr lang="en-US" sz="2000" dirty="0"/>
          </a:p>
          <a:p>
            <a:pPr algn="ctr"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就沒有驗證</a:t>
            </a:r>
            <a:endParaRPr lang="en-US" sz="2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221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97280" y="2011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模組四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260604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成效報告與決策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97280" y="3886200"/>
            <a:ext cx="1280160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4160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ED4C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14:40–16:00　｜　把判斷寫成老闆三十秒看得懂的一頁</a:t>
            </a:r>
            <a:endParaRPr lang="en-US" sz="1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106424" cy="329184"/>
          </a:xfrm>
          <a:prstGeom prst="roundRect">
            <a:avLst>
              <a:gd name="adj" fmla="val 50000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1106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報告原則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804672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先講結論，再講過程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813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老闆的閱讀順序，跟你的分析順序相反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901952"/>
            <a:ext cx="1005840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63550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行銷數據解讀與成效分析基礎｜黃皇賓｜知育行銷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60704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ED4C6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803136"/>
            <a:ext cx="8964482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240280"/>
            <a:ext cx="5321808" cy="3108960"/>
          </a:xfrm>
          <a:prstGeom prst="roundRect">
            <a:avLst>
              <a:gd name="adj" fmla="val 2941"/>
            </a:avLst>
          </a:prstGeom>
          <a:solidFill>
            <a:srgbClr val="F6EAE4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240280"/>
            <a:ext cx="5321808" cy="457200"/>
          </a:xfrm>
          <a:prstGeom prst="rect">
            <a:avLst/>
          </a:prstGeom>
          <a:solidFill>
            <a:srgbClr val="9A5B4A"/>
          </a:solidFill>
          <a:ln w="12700">
            <a:solidFill>
              <a:srgbClr val="9A5B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2240280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分析的順序（你做事的順序）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2862072"/>
            <a:ext cx="477316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撈資料 → 對齊定義 → 找異常</a:t>
            </a:r>
            <a:endParaRPr lang="en-US" sz="17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逐層檢查 → 找出斷點</a:t>
            </a:r>
            <a:endParaRPr lang="en-US" sz="17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推論原因 → 想對策</a:t>
            </a:r>
            <a:endParaRPr lang="en-US" sz="17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得到結論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537960" y="2240280"/>
            <a:ext cx="5321808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37960" y="2240280"/>
            <a:ext cx="5321808" cy="457200"/>
          </a:xfrm>
          <a:prstGeom prst="rect">
            <a:avLst/>
          </a:prstGeom>
          <a:solidFill>
            <a:srgbClr val="6E7A61"/>
          </a:solidFill>
          <a:ln w="12700">
            <a:solidFill>
              <a:srgbClr val="6E7A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93992" y="2240280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報告的順序（他讀的順序）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812280" y="2862072"/>
            <a:ext cx="477316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結論：這波有效／無效，下一步要做什麼</a:t>
            </a:r>
            <a:endParaRPr lang="en-US" sz="17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三個關鍵發現：每個都附一個數字</a:t>
            </a:r>
            <a:endParaRPr lang="en-US" sz="17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三個行動：誰、做什麼、什麼時候完成</a:t>
            </a:r>
            <a:endParaRPr lang="en-US" sz="17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附錄：完整數據放後面，要問才翻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40080" y="5486400"/>
            <a:ext cx="10908792" cy="658368"/>
          </a:xfrm>
          <a:prstGeom prst="roundRect">
            <a:avLst>
              <a:gd name="adj" fmla="val 13889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548640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把分析過程當成報告結構，是行銷人員最常見的溝通失誤。</a:t>
            </a:r>
            <a:endParaRPr lang="en-US" sz="1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模板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804672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一頁報告的骨架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813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四個區塊，寫滿就是一份合格的報告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901952"/>
            <a:ext cx="1005840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63550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行銷數據解讀與成效分析基礎｜黃皇賓｜知育行銷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60704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ED4C6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803136"/>
            <a:ext cx="9143771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24028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F1EAE0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240280"/>
            <a:ext cx="64008" cy="914400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235000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結論（一句話）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2350008"/>
            <a:ext cx="7223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本週投放整體達標／未達標，主要受什麼影響，下週主要動作是什麼。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324612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246120"/>
            <a:ext cx="64008" cy="914400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33558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三個關鍵發現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3355848"/>
            <a:ext cx="7223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每個發現一句話 + 一個數字 + 跟誰比。例：B 組 CPA 降到 682，較上週下降 28%。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425196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F1EAE0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251960"/>
            <a:ext cx="64008" cy="914400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436168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三個行動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4114800" y="4361688"/>
            <a:ext cx="7223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動作 + 負責人 + 完成日。例：重拍 A 組落地頁第一屏｜平面企劃｜9/25 前。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0080" y="525780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5257800"/>
            <a:ext cx="64008" cy="914400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4400" y="53675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需要決策的事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4114800" y="5367528"/>
            <a:ext cx="7223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需要老闆拍板的項目，附上兩個選項與你的建議。沒有就寫「無」。</a:t>
            </a:r>
            <a:endParaRPr lang="en-US" sz="15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106424" cy="329184"/>
          </a:xfrm>
          <a:prstGeom prst="roundRect">
            <a:avLst>
              <a:gd name="adj" fmla="val 50000"/>
            </a:avLst>
          </a:prstGeom>
          <a:solidFill>
            <a:srgbClr val="E3E7DD"/>
          </a:solidFill>
          <a:ln w="12700">
            <a:solidFill>
              <a:srgbClr val="E3E7D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1106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7A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寫法對照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804672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摘要怎麼寫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1005840" cy="54864"/>
          </a:xfrm>
          <a:prstGeom prst="rect">
            <a:avLst/>
          </a:prstGeom>
          <a:solidFill>
            <a:srgbClr val="6E7A61"/>
          </a:solidFill>
          <a:ln w="12700">
            <a:solidFill>
              <a:srgbClr val="6E7A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63550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行銷數據解讀與成效分析基礎｜黃皇賓｜知育行銷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60704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ED4C6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803136"/>
            <a:ext cx="9323061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240280"/>
            <a:ext cx="5321808" cy="3291840"/>
          </a:xfrm>
          <a:prstGeom prst="roundRect">
            <a:avLst>
              <a:gd name="adj" fmla="val 2778"/>
            </a:avLst>
          </a:prstGeom>
          <a:solidFill>
            <a:srgbClr val="F6EAE4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240280"/>
            <a:ext cx="5321808" cy="457200"/>
          </a:xfrm>
          <a:prstGeom prst="rect">
            <a:avLst/>
          </a:prstGeom>
          <a:solidFill>
            <a:srgbClr val="9A5B4A"/>
          </a:solidFill>
          <a:ln w="12700">
            <a:solidFill>
              <a:srgbClr val="9A5B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96112" y="2240280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改寫前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2862072"/>
            <a:ext cx="4773168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「本週共曝光 412 萬次，點擊 3.7 萬次，互動良好，整體成效穩定成長，將持續優化。」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問題：沒有結論、沒有比較、沒有動作。老闆看完不知道要做什麼。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37960" y="2240280"/>
            <a:ext cx="5321808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37960" y="2240280"/>
            <a:ext cx="5321808" cy="457200"/>
          </a:xfrm>
          <a:prstGeom prst="rect">
            <a:avLst/>
          </a:prstGeom>
          <a:solidFill>
            <a:srgbClr val="6E7A61"/>
          </a:solidFill>
          <a:ln w="12700">
            <a:solidFill>
              <a:srgbClr val="6E7A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93992" y="2240280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改寫後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812280" y="2862072"/>
            <a:ext cx="4773168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「本週達標。ROAS 2.6（上週 1.9，門檻 2.2）。主因是開箱素材上線，CPA 從 968 降到 682。下週把 A 組預算移到 B 組，並重做 A 組落地頁第一屏。」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特點：先講達標與否、數字有比較對象、直接接到下週動作。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5669280"/>
            <a:ext cx="10908792" cy="658368"/>
          </a:xfrm>
          <a:prstGeom prst="roundRect">
            <a:avLst>
              <a:gd name="adj" fmla="val 13889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56692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檢查方法：把摘要唸給不懂廣告的人聽，他能複述下一步，就算合格。</a:t>
            </a:r>
            <a:endParaRPr lang="en-US" sz="1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E3E7DD"/>
          </a:solidFill>
          <a:ln w="12700">
            <a:solidFill>
              <a:srgbClr val="E3E7D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7A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視覺化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804672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什麼數據配什麼圖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1005840" cy="54864"/>
          </a:xfrm>
          <a:prstGeom prst="rect">
            <a:avLst/>
          </a:prstGeom>
          <a:solidFill>
            <a:srgbClr val="6E7A61"/>
          </a:solidFill>
          <a:ln w="12700">
            <a:solidFill>
              <a:srgbClr val="6E7A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63550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行銷數據解讀與成效分析基礎｜黃皇賓｜知育行銷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60704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ED4C6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803136"/>
            <a:ext cx="9502351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86000"/>
          <a:ext cx="1090879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931920"/>
                <a:gridCol w="368503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你想表達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用哪種圖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不要用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趨勢隨時間變化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折線圖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圓餅圖（看不出時間）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幾個項目互相比較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橫向長條圖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3D 長條圖（視覺會騙人）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組成比例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堆疊長條圖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超過五塊的圓餅圖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兩個指標的關係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散布圖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雙軸折線（容易誤導）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單一關鍵數字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大字 + 對比數字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表格（重點會被稀釋）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40080" y="5532120"/>
            <a:ext cx="10908792" cy="658368"/>
          </a:xfrm>
          <a:prstGeom prst="roundRect">
            <a:avLst>
              <a:gd name="adj" fmla="val 13889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14400" y="553212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圖表三不：不用 3D、Y 軸不從非零起跳、強調色不超過兩種。</a:t>
            </a:r>
            <a:endParaRPr lang="en-US" sz="1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示範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804672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同一組數據的兩種講法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813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左邊是資料，右邊是判斷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901952"/>
            <a:ext cx="1005840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63550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行銷數據解讀與成效分析基礎｜黃皇賓｜知育行銷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60704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ED4C6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803136"/>
            <a:ext cx="9681640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graphicFrame>
        <p:nvGraphicFramePr>
          <p:cNvPr id="11" name="Chart 0" descr=""/>
          <p:cNvGraphicFramePr/>
          <p:nvPr/>
        </p:nvGraphicFramePr>
        <p:xfrm>
          <a:off x="640080" y="2240280"/>
          <a:ext cx="58521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6720840" y="2240280"/>
            <a:ext cx="4828032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995160" y="24231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這張圖要講的話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995160" y="2926080"/>
            <a:ext cx="42976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W34 跨過損益兩平線後穩住，連續三週向上。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轉折點在 W34 開箱素材上線，不是預算增加。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下週維持素材方向，預算增幅控制在 20% 以內。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40080" y="5760720"/>
            <a:ext cx="10908792" cy="658368"/>
          </a:xfrm>
          <a:prstGeom prst="roundRect">
            <a:avLst>
              <a:gd name="adj" fmla="val 13889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4400" y="576072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圖表負責呈現，文字負責判斷。只放圖不寫判斷，等於把工作丟回給讀的人。</a:t>
            </a:r>
            <a:endParaRPr lang="en-US" sz="1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106424" cy="329184"/>
          </a:xfrm>
          <a:prstGeom prst="roundRect">
            <a:avLst>
              <a:gd name="adj" fmla="val 50000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1106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模板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804672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週報模板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813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複製這個結構，每週花 20 分鐘填完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901952"/>
            <a:ext cx="1005840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63550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行銷數據解讀與成效分析基礎｜黃皇賓｜知育行銷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60704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ED4C6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803136"/>
            <a:ext cx="9860930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86000"/>
          <a:ext cx="1090879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6766560"/>
                <a:gridCol w="2039112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區塊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內容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字數上限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2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主旨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【週報】9/15–9/21 廣告成效｜達標，ROAS 2.6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25 字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一句話結論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本週達標，主因開箱素材帶動 CPA 下降 28%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40 字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三個發現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每則一句話 + 一個數字 + 比較基準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各 30 字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三個行動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動作 ｜ 負責人 ｜ 完成日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各 25 字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需要決策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兩個選項 + 建議，或直接寫「無」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50 字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附錄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完整數據表、素材成效、受眾表現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不限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640080" y="5532120"/>
            <a:ext cx="10908792" cy="658368"/>
          </a:xfrm>
          <a:prstGeom prst="roundRect">
            <a:avLst>
              <a:gd name="adj" fmla="val 13889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4400" y="553212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字數上限是重點。寫不下，代表你自己還沒想清楚。</a:t>
            </a:r>
            <a:endParaRPr lang="en-US" sz="18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E3E7DD"/>
          </a:solidFill>
          <a:ln w="12700">
            <a:solidFill>
              <a:srgbClr val="E3E7D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7A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節奏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804672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週報、月報、季報的分工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1005840" cy="54864"/>
          </a:xfrm>
          <a:prstGeom prst="rect">
            <a:avLst/>
          </a:prstGeom>
          <a:solidFill>
            <a:srgbClr val="6E7A61"/>
          </a:solidFill>
          <a:ln w="12700">
            <a:solidFill>
              <a:srgbClr val="6E7A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63550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行銷數據解讀與成效分析基礎｜黃皇賓｜知育行銷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60704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ED4C6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803136"/>
            <a:ext cx="10040220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286000"/>
            <a:ext cx="3465576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286000"/>
            <a:ext cx="64008" cy="2926080"/>
          </a:xfrm>
          <a:prstGeom prst="rect">
            <a:avLst/>
          </a:prstGeom>
          <a:solidFill>
            <a:srgbClr val="6E7A61"/>
          </a:solidFill>
          <a:ln w="12700">
            <a:solidFill>
              <a:srgbClr val="6E7A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2505456"/>
            <a:ext cx="2916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E7A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週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932688" y="2926080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週報：戰術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932688" y="3328416"/>
            <a:ext cx="291693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回答「下週要改什麼」。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看素材、受眾、預算分配。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對象：行銷團隊與主管。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361688" y="2286000"/>
            <a:ext cx="3465576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61688" y="2286000"/>
            <a:ext cx="64008" cy="2926080"/>
          </a:xfrm>
          <a:prstGeom prst="rect">
            <a:avLst/>
          </a:prstGeom>
          <a:solidFill>
            <a:srgbClr val="6E7A61"/>
          </a:solidFill>
          <a:ln w="12700">
            <a:solidFill>
              <a:srgbClr val="6E7A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54296" y="2505456"/>
            <a:ext cx="2916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E7A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4654296" y="2926080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月報：戰略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4654296" y="3328416"/>
            <a:ext cx="291693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回答「這個月的方向對不對」。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看客單價、回購、管道結構。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對象：老闆與跨部門。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083296" y="2286000"/>
            <a:ext cx="3465576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83296" y="2286000"/>
            <a:ext cx="64008" cy="2926080"/>
          </a:xfrm>
          <a:prstGeom prst="rect">
            <a:avLst/>
          </a:prstGeom>
          <a:solidFill>
            <a:srgbClr val="6E7A61"/>
          </a:solidFill>
          <a:ln w="12700">
            <a:solidFill>
              <a:srgbClr val="6E7A6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75904" y="2505456"/>
            <a:ext cx="2916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E7A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季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8375904" y="2926080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季報：資源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8375904" y="3328416"/>
            <a:ext cx="291693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回答「錢與人要怎麼配」。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LTV、獲客成本趨勢、通路佈局。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對象：決策層。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40080" y="5532120"/>
            <a:ext cx="10908792" cy="658368"/>
          </a:xfrm>
          <a:prstGeom prst="roundRect">
            <a:avLst>
              <a:gd name="adj" fmla="val 13889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4400" y="553212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用週報的顆粒度講季報，會讓決策層失焦；用季報的高度講週報，團隊不知道要做什麼。</a:t>
            </a:r>
            <a:endParaRPr lang="en-US" sz="1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804672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對老闆講數據的三句話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813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電梯裡、走廊上、會議前三十秒都能用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901952"/>
            <a:ext cx="1005840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63550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行銷數據解讀與成效分析基礎｜黃皇賓｜知育行銷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60704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ED4C6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803136"/>
            <a:ext cx="10219509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286000"/>
            <a:ext cx="3465576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286000"/>
            <a:ext cx="64008" cy="2743200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32688" y="2505456"/>
            <a:ext cx="2916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第一句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932688" y="2926080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達標了嗎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3328416"/>
            <a:ext cx="291693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「這波達標／沒達標。」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直接給判斷，不要先鋪陳。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361688" y="2286000"/>
            <a:ext cx="3465576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61688" y="2286000"/>
            <a:ext cx="64008" cy="2743200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54296" y="2505456"/>
            <a:ext cx="2916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第二句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4654296" y="2926080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4654296" y="3328416"/>
            <a:ext cx="291693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「主因是＿＿，數字從＿＿變成＿＿。」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一個原因，一組對比數字。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083296" y="2286000"/>
            <a:ext cx="3465576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83296" y="2286000"/>
            <a:ext cx="64008" cy="2743200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375904" y="2505456"/>
            <a:ext cx="2916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第三句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8375904" y="2926080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接下來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8375904" y="3328416"/>
            <a:ext cx="291693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「下一步我要做＿＿，＿＿之前會有結果。」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動作 + 時間。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0080" y="5349240"/>
            <a:ext cx="10908792" cy="658368"/>
          </a:xfrm>
          <a:prstGeom prst="roundRect">
            <a:avLst>
              <a:gd name="adj" fmla="val 13889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4400" y="534924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老闆問「怎麼樣了」，他要的是這三句話，不是一份 PDF。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60350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練習方式：每次寫完報告，先用這三句話講一遍給自己聽，講不順就代表結論還不夠清楚。</a:t>
            </a:r>
            <a:endParaRPr lang="en-US" sz="16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提醒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804672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只報好消息的代價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1005840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63550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行銷數據解讀與成效分析基礎｜黃皇賓｜知育行銷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60704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ED4C6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803136"/>
            <a:ext cx="10398799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240280"/>
            <a:ext cx="5321808" cy="3200400"/>
          </a:xfrm>
          <a:prstGeom prst="roundRect">
            <a:avLst>
              <a:gd name="adj" fmla="val 2857"/>
            </a:avLst>
          </a:prstGeom>
          <a:solidFill>
            <a:srgbClr val="F6EAE4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240280"/>
            <a:ext cx="5321808" cy="457200"/>
          </a:xfrm>
          <a:prstGeom prst="rect">
            <a:avLst/>
          </a:prstGeom>
          <a:solidFill>
            <a:srgbClr val="9A5B4A"/>
          </a:solidFill>
          <a:ln w="12700">
            <a:solidFill>
              <a:srgbClr val="9A5B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96112" y="2240280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✕　常見誤解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2862072"/>
            <a:ext cx="477316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這週數字難看，先不要報，下週補回來</a:t>
            </a:r>
            <a:endParaRPr lang="en-US" sz="17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把表現差的廣告組合從報表裡拿掉</a:t>
            </a:r>
            <a:endParaRPr lang="en-US" sz="17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改用比較好看的指標來報告（例如互動率）</a:t>
            </a:r>
            <a:endParaRPr lang="en-US" sz="17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問題等到季度檢討再一起說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537960" y="2240280"/>
            <a:ext cx="5321808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37960" y="2240280"/>
            <a:ext cx="5321808" cy="457200"/>
          </a:xfrm>
          <a:prstGeom prst="rect">
            <a:avLst/>
          </a:prstGeom>
          <a:solidFill>
            <a:srgbClr val="6E7A61"/>
          </a:solidFill>
          <a:ln w="12700">
            <a:solidFill>
              <a:srgbClr val="6E7A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93992" y="2240280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　正確理解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812280" y="2862072"/>
            <a:ext cx="477316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壞消息愈早報，可動用的資源愈多</a:t>
            </a:r>
            <a:endParaRPr lang="en-US" sz="17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壞的數據是找到斷點的線索，拿掉就找不到了</a:t>
            </a:r>
            <a:endParaRPr lang="en-US" sz="17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換指標只是延後問題，也會消耗你的信任額度</a:t>
            </a:r>
            <a:endParaRPr lang="en-US" sz="17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小問題自己處理，會影響目標的問題當週就報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40080" y="5577840"/>
            <a:ext cx="10908792" cy="658368"/>
          </a:xfrm>
          <a:prstGeom prst="roundRect">
            <a:avLst>
              <a:gd name="adj" fmla="val 13889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557784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報告的信任，是靠「壞消息也照報」建立起來的。</a:t>
            </a:r>
            <a:endParaRPr lang="en-US" sz="18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案例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804672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一份被退回的報告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813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同一週數據，兩種寫法，兩種結果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901952"/>
            <a:ext cx="1005840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63550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行銷數據解讀與成效分析基礎｜黃皇賓｜知育行銷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60704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59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ED4C6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803136"/>
            <a:ext cx="10578088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86000"/>
          <a:ext cx="1090879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572000"/>
                <a:gridCol w="4599432"/>
              </a:tblGrid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第一版（被退回）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第二版（當場核准預算）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2E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開頭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本週投放數據整理如下……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本週達標，ROAS 2.6，超過門檻 2.2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結構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八張圖表依平台排列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結論 → 三發現 → 三行動 → 一個決策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數字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只有絕對值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每個數字都附上週與門檻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結尾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將持續優化，密切關注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需要決定：A 組頁面重做，外包或內部做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老闆反應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「所以呢？」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「就照你說的做。」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640080" y="5669280"/>
            <a:ext cx="10908792" cy="658368"/>
          </a:xfrm>
          <a:prstGeom prst="roundRect">
            <a:avLst>
              <a:gd name="adj" fmla="val 13889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4400" y="56692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同樣的分析品質，不同的表達結構，決定它會不會變成行動。</a:t>
            </a:r>
            <a:endParaRPr lang="en-US" sz="18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221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97280" y="12801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17830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現場寫一份週報摘要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2971800"/>
            <a:ext cx="75895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 分鐘，個人完成 + 兩人互評</a:t>
            </a:r>
            <a:endParaRPr lang="en-US" sz="1700" dirty="0"/>
          </a:p>
          <a:p>
            <a:pPr marL="342900" indent="-342900">
              <a:lnSpc>
                <a:spcPts val="2600"/>
              </a:lnSpc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DED4C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用自己公司上週的真實數字（沒有就用練習 3 的資料）</a:t>
            </a:r>
            <a:endParaRPr lang="en-US" sz="1700" dirty="0"/>
          </a:p>
          <a:p>
            <a:pPr marL="342900" indent="-342900">
              <a:lnSpc>
                <a:spcPts val="2600"/>
              </a:lnSpc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DED4C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寫出：一句話結論、三個發現、三個行動、一個決策</a:t>
            </a:r>
            <a:endParaRPr lang="en-US" sz="1700" dirty="0"/>
          </a:p>
          <a:p>
            <a:pPr marL="342900" indent="-342900">
              <a:lnSpc>
                <a:spcPts val="2600"/>
              </a:lnSpc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DED4C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每個發現都要有數字，而且要有比較對象</a:t>
            </a:r>
            <a:endParaRPr lang="en-US" sz="1700" dirty="0"/>
          </a:p>
          <a:p>
            <a:pPr marL="342900" indent="-342900">
              <a:lnSpc>
                <a:spcPts val="2600"/>
              </a:lnSpc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DED4C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互評標準：不懂廣告的人看完，說不說得出下一步</a:t>
            </a:r>
            <a:endParaRPr lang="en-US" sz="1700" dirty="0"/>
          </a:p>
          <a:p>
            <a:pPr marL="342900" indent="-342900">
              <a:lnSpc>
                <a:spcPts val="2600"/>
              </a:lnSpc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DED4C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最後用三句話公式，講給旁邊的人聽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961120" y="2377440"/>
            <a:ext cx="2377440" cy="2377440"/>
          </a:xfrm>
          <a:prstGeom prst="roundRect">
            <a:avLst>
              <a:gd name="adj" fmla="val 5385"/>
            </a:avLst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0" y="2377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寫不下</a:t>
            </a:r>
            <a:endParaRPr lang="en-US" sz="22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代表</a:t>
            </a:r>
            <a:endParaRPr lang="en-US" sz="22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還沒</a:t>
            </a:r>
            <a:endParaRPr lang="en-US" sz="22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想清楚</a:t>
            </a:r>
            <a:endParaRPr lang="en-US" sz="22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回顧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804672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回到早上那個問題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813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老闆問：這波廣告到底有沒有效？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901952"/>
            <a:ext cx="1005840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63550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行銷數據解讀與成效分析基礎｜黃皇賓｜知育行銷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60704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ED4C6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803136"/>
            <a:ext cx="10936668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286000"/>
            <a:ext cx="3465576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286000"/>
            <a:ext cx="64008" cy="2926080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32688" y="2505456"/>
            <a:ext cx="2916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932688" y="2926080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先定位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3328416"/>
            <a:ext cx="291693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這個問題問的是哪一層？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多數時候問的是轉換層與獲利層：CPA 與 ROAS。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361688" y="2286000"/>
            <a:ext cx="3465576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61688" y="2286000"/>
            <a:ext cx="64008" cy="2926080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54296" y="2505456"/>
            <a:ext cx="2916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4654296" y="2926080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再比較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4654296" y="3328416"/>
            <a:ext cx="291693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跟上週比、跟門檻比。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「ROAS 2.6，門檻 2.2，達標」比「成效不錯」有用一百倍。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083296" y="2286000"/>
            <a:ext cx="3465576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83296" y="2286000"/>
            <a:ext cx="64008" cy="2926080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375904" y="2505456"/>
            <a:ext cx="2916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8375904" y="2926080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最後給動作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8375904" y="3328416"/>
            <a:ext cx="291693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「下週把預算移到 B 組，同時重做 A 組頁面。」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給判斷，不要只給數字。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0080" y="5532120"/>
            <a:ext cx="10908792" cy="658368"/>
          </a:xfrm>
          <a:prstGeom prst="roundRect">
            <a:avLst>
              <a:gd name="adj" fmla="val 13889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4400" y="553212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三十秒的回答：達標與否 → 為什麼 → 下一步。今天練的全部收在這三句。</a:t>
            </a:r>
            <a:endParaRPr lang="en-US" sz="18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221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97280" y="16916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帶走一句話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2286000"/>
            <a:ext cx="10241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看到一個數字，</a:t>
            </a:r>
            <a:endParaRPr lang="en-US" sz="4000" dirty="0"/>
          </a:p>
          <a:p>
            <a:pPr indent="0" marL="0">
              <a:lnSpc>
                <a:spcPts val="6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先問它在漏斗哪一層，</a:t>
            </a:r>
            <a:endParaRPr lang="en-US" sz="4000" dirty="0"/>
          </a:p>
          <a:p>
            <a:pPr indent="0" marL="0">
              <a:lnSpc>
                <a:spcPts val="6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再問你要改哪一個變因。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1097280" y="5029200"/>
            <a:ext cx="1280160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53035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ED4C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兩個問題都答得出來，你就有判斷；只答得出第一個，那還只是報表。</a:t>
            </a:r>
            <a:endParaRPr lang="en-US" sz="18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106424" cy="329184"/>
          </a:xfrm>
          <a:prstGeom prst="roundRect">
            <a:avLst>
              <a:gd name="adj" fmla="val 50000"/>
            </a:avLst>
          </a:prstGeom>
          <a:solidFill>
            <a:srgbClr val="E3E7DD"/>
          </a:solidFill>
          <a:ln w="12700">
            <a:solidFill>
              <a:srgbClr val="E3E7D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1106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7A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行動清單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804672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回去後的七天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813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照順序做，一天一件，週五就有第一份新格式的報告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901952"/>
            <a:ext cx="1005840" cy="54864"/>
          </a:xfrm>
          <a:prstGeom prst="rect">
            <a:avLst/>
          </a:prstGeom>
          <a:solidFill>
            <a:srgbClr val="6E7A61"/>
          </a:solidFill>
          <a:ln w="12700">
            <a:solidFill>
              <a:srgbClr val="6E7A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63550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行銷數據解讀與成效分析基礎｜黃皇賓｜知育行銷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60704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ED4C6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803136"/>
            <a:ext cx="11295247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86000"/>
          <a:ext cx="1090879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120640"/>
                <a:gridCol w="1737360"/>
                <a:gridCol w="267919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Day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做什麼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花多久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產出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5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Day 1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檢查 GA4 purchase 事件有沒有帶金額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 分鐘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確認或報修單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Day 2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算出自己的 CPA 上限與損益兩平 ROAS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 分鐘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兩個數字，寫在白板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Day 3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拉過去 90 天資料，建立基準表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40 分鐘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一張基準表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Day 4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把 Meta 欄位改成九個，存成範本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 分鐘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自訂欄位範本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Day 5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用診斷表檢查目前所有廣告組合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40 分鐘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三個具體動作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Day 6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統一 UTM 命名規則，寫成一頁 SOP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 分鐘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一頁 SOP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1F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Day 7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用模板寫出第一份新格式週報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 分鐘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4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一份週報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640080" y="5715000"/>
            <a:ext cx="10908792" cy="658368"/>
          </a:xfrm>
          <a:prstGeom prst="roundRect">
            <a:avLst>
              <a:gd name="adj" fmla="val 13889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4400" y="571500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七天總共不到四小時。做完這七件事，你的數據品質會跟今天早上完全不同。</a:t>
            </a:r>
            <a:endParaRPr lang="en-US" sz="18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106424" cy="329184"/>
          </a:xfrm>
          <a:prstGeom prst="roundRect">
            <a:avLst>
              <a:gd name="adj" fmla="val 50000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1106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快問快答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804672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現場最常被問的四題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1005840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63550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行銷數據解讀與成效分析基礎｜黃皇賓｜知育行銷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60704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ED4C6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803136"/>
            <a:ext cx="11474537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286000"/>
            <a:ext cx="53263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286000"/>
            <a:ext cx="64008" cy="1691640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2505456"/>
            <a:ext cx="47777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932688" y="2926080"/>
            <a:ext cx="47777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預算很小也要這樣做嗎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932688" y="3328416"/>
            <a:ext cx="47777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預算愈小愈要。小預算的容錯空間更低，亂改的代價更高。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22492" y="2286000"/>
            <a:ext cx="53263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22492" y="2286000"/>
            <a:ext cx="64008" cy="1691640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15100" y="2505456"/>
            <a:ext cx="47777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515100" y="2926080"/>
            <a:ext cx="47777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多久看一次數據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6515100" y="3328416"/>
            <a:ext cx="47777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每天看趨勢不做決定，每週做調整，每月看結構。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4233672"/>
            <a:ext cx="53263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233672"/>
            <a:ext cx="64008" cy="1691640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32688" y="4453128"/>
            <a:ext cx="47777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Q3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932688" y="4873752"/>
            <a:ext cx="47777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沒有工程師怎麼設事件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932688" y="5276088"/>
            <a:ext cx="47777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先用 Meta 與 GA4 的介面設定，能涵蓋八成需求。剩下的再外包。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222492" y="4233672"/>
            <a:ext cx="53263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22492" y="4233672"/>
            <a:ext cx="64008" cy="1691640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15100" y="4453128"/>
            <a:ext cx="47777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Q4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6515100" y="4873752"/>
            <a:ext cx="47777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代理商的報告要怎麼看</a:t>
            </a:r>
            <a:endParaRPr lang="en-US" sz="1900" dirty="0"/>
          </a:p>
        </p:txBody>
      </p:sp>
      <p:sp>
        <p:nvSpPr>
          <p:cNvPr id="29" name="Text 27"/>
          <p:cNvSpPr txBox="1"/>
          <p:nvPr/>
        </p:nvSpPr>
        <p:spPr>
          <a:xfrm>
            <a:off x="6515100" y="5276088"/>
            <a:ext cx="47777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只問三件事：斷點在哪、下週動作、預期什麼改變。答不出來就要留意。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40080" y="5806440"/>
            <a:ext cx="10908792" cy="658368"/>
          </a:xfrm>
          <a:prstGeom prst="roundRect">
            <a:avLst>
              <a:gd name="adj" fmla="val 13889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14400" y="580644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還有問題，留到最後一段，或會後直接找我。</a:t>
            </a:r>
            <a:endParaRPr lang="en-US" sz="18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E3E7DD"/>
          </a:solidFill>
          <a:ln w="12700">
            <a:solidFill>
              <a:srgbClr val="E3E7D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7A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工具箱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804672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回去可以直接用的東西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1005840" cy="54864"/>
          </a:xfrm>
          <a:prstGeom prst="rect">
            <a:avLst/>
          </a:prstGeom>
          <a:solidFill>
            <a:srgbClr val="6E7A61"/>
          </a:solidFill>
          <a:ln w="12700">
            <a:solidFill>
              <a:srgbClr val="6E7A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63550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行銷數據解讀與成效分析基礎｜黃皇賓｜知育行銷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607040" y="6355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ED4C6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803136"/>
            <a:ext cx="11653826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286000"/>
            <a:ext cx="3465576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286000"/>
            <a:ext cx="64008" cy="1554480"/>
          </a:xfrm>
          <a:prstGeom prst="rect">
            <a:avLst/>
          </a:prstGeom>
          <a:solidFill>
            <a:srgbClr val="6E7A61"/>
          </a:solidFill>
          <a:ln w="12700">
            <a:solidFill>
              <a:srgbClr val="6E7A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2505456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斷點診斷表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932688" y="2907792"/>
            <a:ext cx="2916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41 頁。印成 A4 貼在桌上，每次看報表對一次。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61688" y="2286000"/>
            <a:ext cx="3465576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61688" y="2286000"/>
            <a:ext cx="64008" cy="1554480"/>
          </a:xfrm>
          <a:prstGeom prst="rect">
            <a:avLst/>
          </a:prstGeom>
          <a:solidFill>
            <a:srgbClr val="6E7A61"/>
          </a:solidFill>
          <a:ln w="12700">
            <a:solidFill>
              <a:srgbClr val="6E7A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54296" y="2505456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指標地圖表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4654296" y="2907792"/>
            <a:ext cx="2916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11 頁。新人訓練可以直接拿來當教材。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83296" y="2286000"/>
            <a:ext cx="3465576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83296" y="2286000"/>
            <a:ext cx="64008" cy="1554480"/>
          </a:xfrm>
          <a:prstGeom prst="rect">
            <a:avLst/>
          </a:prstGeom>
          <a:solidFill>
            <a:srgbClr val="6E7A61"/>
          </a:solidFill>
          <a:ln w="12700">
            <a:solidFill>
              <a:srgbClr val="6E7A6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75904" y="2505456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週報模板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8375904" y="2907792"/>
            <a:ext cx="2916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55 頁。複製成 Google Doc 範本，全公司統一。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4096512"/>
            <a:ext cx="3465576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4096512"/>
            <a:ext cx="64008" cy="1554480"/>
          </a:xfrm>
          <a:prstGeom prst="rect">
            <a:avLst/>
          </a:prstGeom>
          <a:solidFill>
            <a:srgbClr val="6E7A61"/>
          </a:solidFill>
          <a:ln w="12700">
            <a:solidFill>
              <a:srgbClr val="6E7A6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32688" y="4315968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UTM 命名規則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932688" y="4718304"/>
            <a:ext cx="2916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29 頁。寫成一頁 SOP，發給所有會發連結的人。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361688" y="4096512"/>
            <a:ext cx="3465576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61688" y="4096512"/>
            <a:ext cx="64008" cy="1554480"/>
          </a:xfrm>
          <a:prstGeom prst="rect">
            <a:avLst/>
          </a:prstGeom>
          <a:solidFill>
            <a:srgbClr val="6E7A61"/>
          </a:solidFill>
          <a:ln w="12700">
            <a:solidFill>
              <a:srgbClr val="6E7A6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654296" y="4315968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CPA 上限公式</a:t>
            </a:r>
            <a:endParaRPr lang="en-US" sz="1900" dirty="0"/>
          </a:p>
        </p:txBody>
      </p:sp>
      <p:sp>
        <p:nvSpPr>
          <p:cNvPr id="29" name="Text 27"/>
          <p:cNvSpPr txBox="1"/>
          <p:nvPr/>
        </p:nvSpPr>
        <p:spPr>
          <a:xfrm>
            <a:off x="4654296" y="4718304"/>
            <a:ext cx="2916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39 頁。每次改價格或改組合，就重算一次。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083296" y="4096512"/>
            <a:ext cx="3465576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ED4C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83296" y="4096512"/>
            <a:ext cx="64008" cy="1554480"/>
          </a:xfrm>
          <a:prstGeom prst="rect">
            <a:avLst/>
          </a:prstGeom>
          <a:solidFill>
            <a:srgbClr val="6E7A61"/>
          </a:solidFill>
          <a:ln w="12700">
            <a:solidFill>
              <a:srgbClr val="6E7A6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375904" y="4315968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F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七天行動清單</a:t>
            </a:r>
            <a:endParaRPr lang="en-US" sz="1900" dirty="0"/>
          </a:p>
        </p:txBody>
      </p:sp>
      <p:sp>
        <p:nvSpPr>
          <p:cNvPr id="33" name="Text 31"/>
          <p:cNvSpPr txBox="1"/>
          <p:nvPr/>
        </p:nvSpPr>
        <p:spPr>
          <a:xfrm>
            <a:off x="8375904" y="4718304"/>
            <a:ext cx="2916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44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63 頁。照順序做，不要跳。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40080" y="5806440"/>
            <a:ext cx="10908792" cy="658368"/>
          </a:xfrm>
          <a:prstGeom prst="roundRect">
            <a:avLst>
              <a:gd name="adj" fmla="val 13889"/>
            </a:avLst>
          </a:prstGeom>
          <a:solidFill>
            <a:srgbClr val="F2DED2"/>
          </a:solidFill>
          <a:ln w="12700">
            <a:solidFill>
              <a:srgbClr val="F2DED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14400" y="580644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B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簡報檔會在課後寄給主辦單位，含講師備註。</a:t>
            </a:r>
            <a:endParaRPr lang="en-US" sz="18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221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0"/>
            <a:ext cx="4327855" cy="6858000"/>
          </a:xfrm>
          <a:prstGeom prst="rect">
            <a:avLst/>
          </a:prstGeom>
          <a:solidFill>
            <a:srgbClr val="3A352E"/>
          </a:solidFill>
          <a:ln w="12700">
            <a:solidFill>
              <a:srgbClr val="3A35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1560" y="210312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謝謝各位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97280" y="3291840"/>
            <a:ext cx="1280160" cy="54864"/>
          </a:xfrm>
          <a:prstGeom prst="rect">
            <a:avLst/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36118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DED4C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今天沒有講完的，回去操作卡住的，</a:t>
            </a:r>
            <a:endParaRPr lang="en-US" sz="19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DED4C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都可以找我。帶著你的數字來問，會更快。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4937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黃皇賓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53949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知育行銷有限公司　執行長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8A81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企業輔導培訓｜數位行銷講師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503920" y="1920240"/>
            <a:ext cx="3017520" cy="3017520"/>
          </a:xfrm>
          <a:prstGeom prst="roundRect">
            <a:avLst>
              <a:gd name="adj" fmla="val 4848"/>
            </a:avLst>
          </a:prstGeom>
          <a:solidFill>
            <a:srgbClr val="B45B33"/>
          </a:solidFill>
          <a:ln w="12700">
            <a:solidFill>
              <a:srgbClr val="B45B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03920" y="192024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先問層級</a:t>
            </a:r>
            <a:endParaRPr lang="en-US" sz="3000" dirty="0"/>
          </a:p>
          <a:p>
            <a:pPr algn="ctr" indent="0" marL="0">
              <a:lnSpc>
                <a:spcPts val="4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再改變因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66</Slides>
  <Notes>66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6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</vt:vector>
  </TitlesOfParts>
  <Company>知育行銷有限公司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行銷數據解讀與成效分析基礎</dc:title>
  <dc:subject>PptxGenJS Presentation</dc:subject>
  <dc:creator>黃皇賓</dc:creator>
  <cp:lastModifiedBy>黃皇賓</cp:lastModifiedBy>
  <cp:revision>1</cp:revision>
  <dcterms:created xsi:type="dcterms:W3CDTF">2026-09-17T10:11:52Z</dcterms:created>
  <dcterms:modified xsi:type="dcterms:W3CDTF">2026-09-17T10:11:52Z</dcterms:modified>
</cp:coreProperties>
</file>